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30"/>
  </p:notesMasterIdLst>
  <p:sldIdLst>
    <p:sldId id="256" r:id="rId2"/>
    <p:sldId id="258" r:id="rId3"/>
    <p:sldId id="270" r:id="rId4"/>
    <p:sldId id="277" r:id="rId5"/>
    <p:sldId id="283" r:id="rId6"/>
    <p:sldId id="284" r:id="rId7"/>
    <p:sldId id="260" r:id="rId8"/>
    <p:sldId id="259" r:id="rId9"/>
    <p:sldId id="269" r:id="rId10"/>
    <p:sldId id="265" r:id="rId11"/>
    <p:sldId id="261" r:id="rId12"/>
    <p:sldId id="262" r:id="rId13"/>
    <p:sldId id="263" r:id="rId14"/>
    <p:sldId id="264" r:id="rId15"/>
    <p:sldId id="266" r:id="rId16"/>
    <p:sldId id="267" r:id="rId17"/>
    <p:sldId id="268" r:id="rId18"/>
    <p:sldId id="271" r:id="rId19"/>
    <p:sldId id="272" r:id="rId20"/>
    <p:sldId id="273" r:id="rId21"/>
    <p:sldId id="274" r:id="rId22"/>
    <p:sldId id="278" r:id="rId23"/>
    <p:sldId id="275" r:id="rId24"/>
    <p:sldId id="276" r:id="rId25"/>
    <p:sldId id="285" r:id="rId26"/>
    <p:sldId id="279" r:id="rId27"/>
    <p:sldId id="281" r:id="rId28"/>
    <p:sldId id="280"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A3EE"/>
    <a:srgbClr val="B453DB"/>
    <a:srgbClr val="FA9C34"/>
    <a:srgbClr val="BE917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8997" autoAdjust="0"/>
    <p:restoredTop sz="94660"/>
  </p:normalViewPr>
  <p:slideViewPr>
    <p:cSldViewPr snapToGrid="0">
      <p:cViewPr varScale="1">
        <p:scale>
          <a:sx n="82" d="100"/>
          <a:sy n="82" d="100"/>
        </p:scale>
        <p:origin x="77" y="134"/>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userId="ccb5e7af070758d8" providerId="LiveId" clId="{9890F44F-C157-4522-AA60-30EF996F6DD3}"/>
    <pc:docChg chg="undo modSld">
      <pc:chgData name="" userId="ccb5e7af070758d8" providerId="LiveId" clId="{9890F44F-C157-4522-AA60-30EF996F6DD3}" dt="2023-12-25T15:11:55.384" v="145" actId="20577"/>
      <pc:docMkLst>
        <pc:docMk/>
      </pc:docMkLst>
      <pc:sldChg chg="modSp">
        <pc:chgData name="" userId="ccb5e7af070758d8" providerId="LiveId" clId="{9890F44F-C157-4522-AA60-30EF996F6DD3}" dt="2023-12-25T14:50:22.646" v="144" actId="20577"/>
        <pc:sldMkLst>
          <pc:docMk/>
          <pc:sldMk cId="905902100" sldId="276"/>
        </pc:sldMkLst>
        <pc:spChg chg="mod">
          <ac:chgData name="" userId="ccb5e7af070758d8" providerId="LiveId" clId="{9890F44F-C157-4522-AA60-30EF996F6DD3}" dt="2023-12-25T14:49:41.134" v="119" actId="20577"/>
          <ac:spMkLst>
            <pc:docMk/>
            <pc:sldMk cId="905902100" sldId="276"/>
            <ac:spMk id="6" creationId="{D81EDDF6-B6AF-456D-8C2B-7EE84282DBEB}"/>
          </ac:spMkLst>
        </pc:spChg>
        <pc:spChg chg="mod">
          <ac:chgData name="" userId="ccb5e7af070758d8" providerId="LiveId" clId="{9890F44F-C157-4522-AA60-30EF996F6DD3}" dt="2023-12-25T14:50:22.646" v="144" actId="20577"/>
          <ac:spMkLst>
            <pc:docMk/>
            <pc:sldMk cId="905902100" sldId="276"/>
            <ac:spMk id="7" creationId="{A7BD3124-C748-4466-89D6-C7C73433A9CB}"/>
          </ac:spMkLst>
        </pc:spChg>
      </pc:sldChg>
      <pc:sldChg chg="modSp">
        <pc:chgData name="" userId="ccb5e7af070758d8" providerId="LiveId" clId="{9890F44F-C157-4522-AA60-30EF996F6DD3}" dt="2023-12-25T15:11:55.384" v="145" actId="20577"/>
        <pc:sldMkLst>
          <pc:docMk/>
          <pc:sldMk cId="2894528994" sldId="277"/>
        </pc:sldMkLst>
        <pc:spChg chg="mod">
          <ac:chgData name="" userId="ccb5e7af070758d8" providerId="LiveId" clId="{9890F44F-C157-4522-AA60-30EF996F6DD3}" dt="2023-12-25T15:11:55.384" v="145" actId="20577"/>
          <ac:spMkLst>
            <pc:docMk/>
            <pc:sldMk cId="2894528994" sldId="277"/>
            <ac:spMk id="7" creationId="{9AFC9DCF-9DB0-44AF-8752-2A775A28C44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2394DC-38FE-4252-BA1E-C3C2BAE2C085}" type="datetimeFigureOut">
              <a:rPr lang="zh-TW" altLang="en-US" smtClean="0"/>
              <a:t>2023/12/25</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9C9644-EB61-4F53-B5A0-7E8D53EA85CF}" type="slidenum">
              <a:rPr lang="zh-TW" altLang="en-US" smtClean="0"/>
              <a:t>‹#›</a:t>
            </a:fld>
            <a:endParaRPr lang="zh-TW" altLang="en-US"/>
          </a:p>
        </p:txBody>
      </p:sp>
    </p:spTree>
    <p:extLst>
      <p:ext uri="{BB962C8B-B14F-4D97-AF65-F5344CB8AC3E}">
        <p14:creationId xmlns:p14="http://schemas.microsoft.com/office/powerpoint/2010/main" val="37982570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zh-TW" altLang="en-US"/>
              <a:t>按一下以編輯母片標題樣式</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D5916A7B-C158-4EA6-A890-5848388B4975}" type="datetime1">
              <a:rPr lang="en-US" altLang="zh-TW" smtClean="0"/>
              <a:t>12/25/2023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zh-TW" altLang="en-US"/>
              <a:t>按一下以編輯母片標題樣式</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D01BE967-2F70-4BD9-8712-5142020C502A}" type="datetime1">
              <a:rPr lang="en-US" altLang="zh-TW" smtClean="0"/>
              <a:t>12/25/2023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zh-TW" altLang="en-US"/>
              <a:t>按一下以編輯母片標題樣式</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A2092E77-064F-4FA7-9D83-E2075E2D78CF}" type="datetime1">
              <a:rPr lang="en-US" altLang="zh-TW" smtClean="0"/>
              <a:t>12/25/2023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zh-TW" altLang="en-US"/>
              <a:t>按一下以編輯母片標題樣式</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F10B0AAA-F44D-4138-BD08-BB86A638555D}" type="datetime1">
              <a:rPr lang="en-US" altLang="zh-TW" smtClean="0"/>
              <a:t>12/25/2023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12" name="Content Placeholder 3"/>
          <p:cNvSpPr>
            <a:spLocks noGrp="1"/>
          </p:cNvSpPr>
          <p:nvPr>
            <p:ph sz="quarter" idx="13"/>
          </p:nvPr>
        </p:nvSpPr>
        <p:spPr>
          <a:xfrm>
            <a:off x="913774" y="3051012"/>
            <a:ext cx="5106027" cy="2740187"/>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13" name="Content Placeholder 5"/>
          <p:cNvSpPr>
            <a:spLocks noGrp="1"/>
          </p:cNvSpPr>
          <p:nvPr>
            <p:ph sz="quarter" idx="14"/>
          </p:nvPr>
        </p:nvSpPr>
        <p:spPr>
          <a:xfrm>
            <a:off x="6172200" y="3051012"/>
            <a:ext cx="5105401" cy="2740187"/>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A9E5B787-0EF4-42B9-A69B-6B71DED5BB00}" type="datetime1">
              <a:rPr lang="en-US" altLang="zh-TW" smtClean="0"/>
              <a:t>12/25/2023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69FFFD4A-11D0-4F56-928B-65CA6E21ACDF}" type="datetime1">
              <a:rPr lang="en-US" altLang="zh-TW" smtClean="0"/>
              <a:t>12/25/2023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73B7109C-7E4F-4611-B4D2-9677FF72430C}" type="datetime1">
              <a:rPr lang="en-US" altLang="zh-TW" smtClean="0"/>
              <a:t>12/25/2023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zh-TW" altLang="en-US"/>
              <a:t>按一下以編輯母片標題樣式</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E9126BFD-6EF5-4456-BD99-40AC4303D872}" type="datetime1">
              <a:rPr lang="en-US" altLang="zh-TW" smtClean="0"/>
              <a:t>12/25/2023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328AFB20-D9C6-4F57-99BD-DFD19C1E1910}" type="datetime1">
              <a:rPr lang="en-US" altLang="zh-TW" smtClean="0"/>
              <a:t>12/25/2023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全景圖片 (含標題)">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9F54007C-7D69-4A2A-9E99-39B43BADCDC7}" type="datetime1">
              <a:rPr lang="en-US" altLang="zh-TW" smtClean="0"/>
              <a:t>12/25/2023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標題與說明文字">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zh-TW" altLang="en-US"/>
              <a:t>按一下以編輯母片標題樣式</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892BE61F-8879-4200-A7F9-AF6BD8C72567}" type="datetime1">
              <a:rPr lang="en-US" altLang="zh-TW" smtClean="0"/>
              <a:t>12/25/2023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引述 (含標題)">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zh-TW" altLang="en-US"/>
              <a:t>按一下以編輯母片標題樣式</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75AE715C-A54B-418C-96D4-BFB6192C35DB}" type="datetime1">
              <a:rPr lang="en-US" altLang="zh-TW" smtClean="0"/>
              <a:t>12/25/2023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zh-TW" altLang="en-US"/>
              <a:t>按一下以編輯母片標題樣式</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97ADAC07-A395-4FA9-BB2E-915B17C7CC63}" type="datetime1">
              <a:rPr lang="en-US" altLang="zh-TW" smtClean="0"/>
              <a:t>12/25/2023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欄">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zh-TW" altLang="en-US"/>
              <a:t>按一下以編輯母片標題樣式</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3" name="Date Placeholder 2"/>
          <p:cNvSpPr>
            <a:spLocks noGrp="1"/>
          </p:cNvSpPr>
          <p:nvPr>
            <p:ph type="dt" sz="half" idx="10"/>
          </p:nvPr>
        </p:nvSpPr>
        <p:spPr/>
        <p:txBody>
          <a:bodyPr/>
          <a:lstStyle/>
          <a:p>
            <a:fld id="{0EABD762-0D0B-4BE6-8779-4B51D7A3E9D4}" type="datetime1">
              <a:rPr lang="en-US" altLang="zh-TW" smtClean="0"/>
              <a:t>12/25/2023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圖片欄">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zh-TW" altLang="en-US"/>
              <a:t>按一下以編輯母片標題樣式</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TW" altLang="en-US"/>
              <a:t>按一下圖示以新增圖片</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TW" altLang="en-US"/>
              <a:t>按一下圖示以新增圖片</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zh-TW" altLang="en-US"/>
              <a:t>按一下圖示以新增圖片</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3" name="Date Placeholder 2"/>
          <p:cNvSpPr>
            <a:spLocks noGrp="1"/>
          </p:cNvSpPr>
          <p:nvPr>
            <p:ph type="dt" sz="half" idx="10"/>
          </p:nvPr>
        </p:nvSpPr>
        <p:spPr/>
        <p:txBody>
          <a:bodyPr/>
          <a:lstStyle/>
          <a:p>
            <a:fld id="{A6206BC9-C4FA-4638-8F28-2F906FF03F6D}" type="datetime1">
              <a:rPr lang="en-US" altLang="zh-TW" smtClean="0"/>
              <a:t>12/25/2023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zh-TW" altLang="en-US"/>
              <a:t>按一下以編輯母片標題樣式</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75C7CCC4-19A8-400D-A848-A41B7E37D0F4}" type="datetime1">
              <a:rPr lang="en-US" altLang="zh-TW" smtClean="0"/>
              <a:t>12/25/2023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zh-TW" altLang="en-US"/>
              <a:t>按一下以編輯母片標題樣式</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5EC39DE3-7CC3-48E6-8DF9-CBD312F1E9C1}" type="datetime1">
              <a:rPr lang="en-US" altLang="zh-TW" smtClean="0"/>
              <a:t>12/25/2023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87BBA25D-0A4E-4BEC-BD44-51A0F956AB72}" type="datetime1">
              <a:rPr lang="en-US" altLang="zh-TW" smtClean="0"/>
              <a:t>12/25/2023</a:t>
            </a:fld>
            <a:endParaRPr lang="en-US" dirty="0"/>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6D22F896-40B5-4ADD-8801-0D06FADFA09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hdr="0" ftr="0" dt="0"/>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e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8.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a:extLst>
              <a:ext uri="{FF2B5EF4-FFF2-40B4-BE49-F238E27FC236}">
                <a16:creationId xmlns:a16="http://schemas.microsoft.com/office/drawing/2014/main" id="{DEADB98F-D8D2-4735-963C-0B8E1DB95E8B}"/>
              </a:ext>
            </a:extLst>
          </p:cNvPr>
          <p:cNvSpPr txBox="1"/>
          <p:nvPr/>
        </p:nvSpPr>
        <p:spPr>
          <a:xfrm>
            <a:off x="1830804" y="1662866"/>
            <a:ext cx="8237621" cy="2739211"/>
          </a:xfrm>
          <a:prstGeom prst="rect">
            <a:avLst/>
          </a:prstGeom>
          <a:noFill/>
        </p:spPr>
        <p:txBody>
          <a:bodyPr wrap="square" rtlCol="0">
            <a:spAutoFit/>
          </a:bodyPr>
          <a:lstStyle/>
          <a:p>
            <a:pPr algn="ctr"/>
            <a:r>
              <a:rPr lang="zh-TW" altLang="en-US" sz="3200" dirty="0">
                <a:solidFill>
                  <a:srgbClr val="002060"/>
                </a:solidFill>
              </a:rPr>
              <a:t>迴歸分析 期末報告</a:t>
            </a:r>
            <a:endParaRPr lang="en-US" altLang="zh-TW" sz="3200" dirty="0">
              <a:solidFill>
                <a:srgbClr val="002060"/>
              </a:solidFill>
            </a:endParaRPr>
          </a:p>
          <a:p>
            <a:pPr algn="ctr"/>
            <a:endParaRPr lang="en-US" altLang="zh-TW" sz="3200" dirty="0">
              <a:solidFill>
                <a:srgbClr val="002060"/>
              </a:solidFill>
            </a:endParaRPr>
          </a:p>
          <a:p>
            <a:pPr algn="ctr"/>
            <a:r>
              <a:rPr lang="zh-TW" altLang="zh-TW" sz="5400" b="1" dirty="0">
                <a:solidFill>
                  <a:srgbClr val="002060"/>
                </a:solidFill>
              </a:rPr>
              <a:t>房價預測</a:t>
            </a:r>
          </a:p>
          <a:p>
            <a:endParaRPr lang="zh-TW" altLang="en-US" sz="5400" dirty="0">
              <a:solidFill>
                <a:srgbClr val="0070C0"/>
              </a:solidFill>
            </a:endParaRPr>
          </a:p>
        </p:txBody>
      </p:sp>
      <p:sp>
        <p:nvSpPr>
          <p:cNvPr id="6" name="文字方塊 5">
            <a:extLst>
              <a:ext uri="{FF2B5EF4-FFF2-40B4-BE49-F238E27FC236}">
                <a16:creationId xmlns:a16="http://schemas.microsoft.com/office/drawing/2014/main" id="{D16EBDBA-AE63-4E42-A583-ACB14ABCF0A1}"/>
              </a:ext>
            </a:extLst>
          </p:cNvPr>
          <p:cNvSpPr txBox="1"/>
          <p:nvPr/>
        </p:nvSpPr>
        <p:spPr>
          <a:xfrm>
            <a:off x="407068" y="4909933"/>
            <a:ext cx="5542547" cy="830997"/>
          </a:xfrm>
          <a:prstGeom prst="rect">
            <a:avLst/>
          </a:prstGeom>
          <a:noFill/>
        </p:spPr>
        <p:txBody>
          <a:bodyPr wrap="square" rtlCol="0">
            <a:spAutoFit/>
          </a:bodyPr>
          <a:lstStyle/>
          <a:p>
            <a:r>
              <a:rPr lang="en-US" altLang="zh-TW" sz="2400" dirty="0"/>
              <a:t>612232017 </a:t>
            </a:r>
            <a:r>
              <a:rPr lang="zh-TW" altLang="en-US" sz="2400" dirty="0"/>
              <a:t>許家豪</a:t>
            </a:r>
            <a:endParaRPr lang="en-US" altLang="zh-TW" sz="2400" dirty="0"/>
          </a:p>
          <a:p>
            <a:r>
              <a:rPr lang="en-US" altLang="zh-TW" sz="2400" dirty="0"/>
              <a:t>612232019</a:t>
            </a:r>
            <a:r>
              <a:rPr lang="zh-TW" altLang="en-US" sz="2400" dirty="0"/>
              <a:t> 鄭景鴻</a:t>
            </a:r>
          </a:p>
        </p:txBody>
      </p:sp>
      <p:sp>
        <p:nvSpPr>
          <p:cNvPr id="7" name="文字方塊 6">
            <a:extLst>
              <a:ext uri="{FF2B5EF4-FFF2-40B4-BE49-F238E27FC236}">
                <a16:creationId xmlns:a16="http://schemas.microsoft.com/office/drawing/2014/main" id="{5CFC737A-E2D3-4181-8026-00827D4B8C7C}"/>
              </a:ext>
            </a:extLst>
          </p:cNvPr>
          <p:cNvSpPr txBox="1"/>
          <p:nvPr/>
        </p:nvSpPr>
        <p:spPr>
          <a:xfrm>
            <a:off x="407068" y="4140467"/>
            <a:ext cx="5077327" cy="523220"/>
          </a:xfrm>
          <a:prstGeom prst="rect">
            <a:avLst/>
          </a:prstGeom>
          <a:noFill/>
        </p:spPr>
        <p:txBody>
          <a:bodyPr wrap="square" rtlCol="0">
            <a:spAutoFit/>
          </a:bodyPr>
          <a:lstStyle/>
          <a:p>
            <a:r>
              <a:rPr lang="zh-TW" altLang="en-US" sz="2800" dirty="0"/>
              <a:t>指導教授</a:t>
            </a:r>
            <a:r>
              <a:rPr lang="en-US" altLang="zh-TW" sz="2800" dirty="0"/>
              <a:t>:</a:t>
            </a:r>
            <a:r>
              <a:rPr lang="zh-TW" altLang="en-US" sz="2800" dirty="0"/>
              <a:t>沈仲維</a:t>
            </a:r>
          </a:p>
        </p:txBody>
      </p:sp>
    </p:spTree>
    <p:extLst>
      <p:ext uri="{BB962C8B-B14F-4D97-AF65-F5344CB8AC3E}">
        <p14:creationId xmlns:p14="http://schemas.microsoft.com/office/powerpoint/2010/main" val="3079213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F15AAEE5-E005-48B8-A129-9E411937552F}"/>
              </a:ext>
            </a:extLst>
          </p:cNvPr>
          <p:cNvSpPr txBox="1"/>
          <p:nvPr/>
        </p:nvSpPr>
        <p:spPr>
          <a:xfrm>
            <a:off x="2937164" y="91441"/>
            <a:ext cx="6317672" cy="830997"/>
          </a:xfrm>
          <a:prstGeom prst="rect">
            <a:avLst/>
          </a:prstGeom>
          <a:noFill/>
        </p:spPr>
        <p:txBody>
          <a:bodyPr wrap="square" rtlCol="0">
            <a:spAutoFit/>
          </a:bodyPr>
          <a:lstStyle/>
          <a:p>
            <a:pPr algn="ctr"/>
            <a:r>
              <a:rPr lang="zh-TW" altLang="en-US" sz="4800" dirty="0"/>
              <a:t>目錄</a:t>
            </a:r>
          </a:p>
        </p:txBody>
      </p:sp>
      <p:sp>
        <p:nvSpPr>
          <p:cNvPr id="3" name="文字方塊 2">
            <a:extLst>
              <a:ext uri="{FF2B5EF4-FFF2-40B4-BE49-F238E27FC236}">
                <a16:creationId xmlns:a16="http://schemas.microsoft.com/office/drawing/2014/main" id="{281E53C8-3AB4-47AE-8343-0B946178D403}"/>
              </a:ext>
            </a:extLst>
          </p:cNvPr>
          <p:cNvSpPr txBox="1"/>
          <p:nvPr/>
        </p:nvSpPr>
        <p:spPr>
          <a:xfrm>
            <a:off x="1418635" y="2088716"/>
            <a:ext cx="10374293" cy="584775"/>
          </a:xfrm>
          <a:prstGeom prst="rect">
            <a:avLst/>
          </a:prstGeom>
          <a:noFill/>
        </p:spPr>
        <p:txBody>
          <a:bodyPr wrap="square" rtlCol="0">
            <a:spAutoFit/>
          </a:bodyPr>
          <a:lstStyle/>
          <a:p>
            <a:r>
              <a:rPr lang="en-US" altLang="zh-TW" sz="3200" dirty="0"/>
              <a:t>(</a:t>
            </a:r>
            <a:r>
              <a:rPr lang="zh-TW" altLang="en-US" sz="3200" dirty="0"/>
              <a:t>三</a:t>
            </a:r>
            <a:r>
              <a:rPr lang="en-US" altLang="zh-TW" sz="3200" dirty="0"/>
              <a:t>)</a:t>
            </a:r>
            <a:r>
              <a:rPr lang="zh-TW" altLang="en-US" sz="3200" dirty="0"/>
              <a:t>變數介紹</a:t>
            </a:r>
            <a:r>
              <a:rPr lang="en-US" altLang="zh-TW" sz="3200" dirty="0"/>
              <a:t>-------------------------------------------------6</a:t>
            </a:r>
            <a:endParaRPr lang="zh-TW" altLang="en-US" sz="3200" dirty="0"/>
          </a:p>
        </p:txBody>
      </p:sp>
      <p:sp>
        <p:nvSpPr>
          <p:cNvPr id="4" name="文字方塊 3">
            <a:extLst>
              <a:ext uri="{FF2B5EF4-FFF2-40B4-BE49-F238E27FC236}">
                <a16:creationId xmlns:a16="http://schemas.microsoft.com/office/drawing/2014/main" id="{27156549-988D-484D-ABE6-71D3CD41FE03}"/>
              </a:ext>
            </a:extLst>
          </p:cNvPr>
          <p:cNvSpPr txBox="1"/>
          <p:nvPr/>
        </p:nvSpPr>
        <p:spPr>
          <a:xfrm>
            <a:off x="1418637" y="1495945"/>
            <a:ext cx="10374291" cy="584775"/>
          </a:xfrm>
          <a:prstGeom prst="rect">
            <a:avLst/>
          </a:prstGeom>
          <a:noFill/>
        </p:spPr>
        <p:txBody>
          <a:bodyPr wrap="square" rtlCol="0">
            <a:spAutoFit/>
          </a:bodyPr>
          <a:lstStyle/>
          <a:p>
            <a:r>
              <a:rPr lang="en-US" altLang="zh-TW" sz="3200" dirty="0"/>
              <a:t>(</a:t>
            </a:r>
            <a:r>
              <a:rPr lang="zh-TW" altLang="en-US" sz="3200" dirty="0"/>
              <a:t>二</a:t>
            </a:r>
            <a:r>
              <a:rPr lang="en-US" altLang="zh-TW" sz="3200" dirty="0"/>
              <a:t>)</a:t>
            </a:r>
            <a:r>
              <a:rPr lang="zh-TW" altLang="en-US" sz="3200" dirty="0"/>
              <a:t>流程介紹</a:t>
            </a:r>
            <a:r>
              <a:rPr lang="en-US" altLang="zh-TW" sz="3200" dirty="0"/>
              <a:t>-------------------------------------------------5</a:t>
            </a:r>
            <a:endParaRPr lang="zh-TW" altLang="en-US" sz="3200" dirty="0"/>
          </a:p>
        </p:txBody>
      </p:sp>
      <p:sp>
        <p:nvSpPr>
          <p:cNvPr id="5" name="文字方塊 4">
            <a:extLst>
              <a:ext uri="{FF2B5EF4-FFF2-40B4-BE49-F238E27FC236}">
                <a16:creationId xmlns:a16="http://schemas.microsoft.com/office/drawing/2014/main" id="{AD05F05A-A7CB-4BB3-A280-B92AD0A45F19}"/>
              </a:ext>
            </a:extLst>
          </p:cNvPr>
          <p:cNvSpPr txBox="1"/>
          <p:nvPr/>
        </p:nvSpPr>
        <p:spPr>
          <a:xfrm>
            <a:off x="1418637" y="2686395"/>
            <a:ext cx="10374291" cy="584775"/>
          </a:xfrm>
          <a:prstGeom prst="rect">
            <a:avLst/>
          </a:prstGeom>
          <a:noFill/>
        </p:spPr>
        <p:txBody>
          <a:bodyPr wrap="square" rtlCol="0">
            <a:spAutoFit/>
          </a:bodyPr>
          <a:lstStyle/>
          <a:p>
            <a:r>
              <a:rPr lang="en-US" altLang="zh-TW" sz="3200" dirty="0"/>
              <a:t>(</a:t>
            </a:r>
            <a:r>
              <a:rPr lang="zh-TW" altLang="en-US" sz="3200" dirty="0"/>
              <a:t>四</a:t>
            </a:r>
            <a:r>
              <a:rPr lang="en-US" altLang="zh-TW" sz="3200" dirty="0"/>
              <a:t>)</a:t>
            </a:r>
            <a:r>
              <a:rPr lang="zh-TW" altLang="en-US" sz="3200" dirty="0"/>
              <a:t>假設檢定</a:t>
            </a:r>
            <a:r>
              <a:rPr lang="en-US" altLang="zh-TW" sz="3200" dirty="0"/>
              <a:t>-------------------------------------------------8</a:t>
            </a:r>
            <a:endParaRPr lang="zh-TW" altLang="en-US" sz="3200" dirty="0"/>
          </a:p>
        </p:txBody>
      </p:sp>
      <p:sp>
        <p:nvSpPr>
          <p:cNvPr id="6" name="文字方塊 5">
            <a:extLst>
              <a:ext uri="{FF2B5EF4-FFF2-40B4-BE49-F238E27FC236}">
                <a16:creationId xmlns:a16="http://schemas.microsoft.com/office/drawing/2014/main" id="{D8B5AB05-429F-4191-BC09-1EAAEFFDD970}"/>
              </a:ext>
            </a:extLst>
          </p:cNvPr>
          <p:cNvSpPr txBox="1"/>
          <p:nvPr/>
        </p:nvSpPr>
        <p:spPr>
          <a:xfrm>
            <a:off x="1418641" y="3261538"/>
            <a:ext cx="10374290" cy="584775"/>
          </a:xfrm>
          <a:prstGeom prst="rect">
            <a:avLst/>
          </a:prstGeom>
          <a:noFill/>
        </p:spPr>
        <p:txBody>
          <a:bodyPr wrap="square" rtlCol="0">
            <a:spAutoFit/>
          </a:bodyPr>
          <a:lstStyle/>
          <a:p>
            <a:r>
              <a:rPr lang="en-US" altLang="zh-TW" sz="3200" dirty="0"/>
              <a:t>(</a:t>
            </a:r>
            <a:r>
              <a:rPr lang="zh-TW" altLang="en-US" sz="3200" dirty="0"/>
              <a:t>五</a:t>
            </a:r>
            <a:r>
              <a:rPr lang="en-US" altLang="zh-TW" sz="3200" dirty="0"/>
              <a:t>)</a:t>
            </a:r>
            <a:r>
              <a:rPr lang="zh-TW" altLang="en-US" sz="3200" dirty="0"/>
              <a:t>殘差分析</a:t>
            </a:r>
            <a:r>
              <a:rPr lang="en-US" altLang="zh-TW" sz="3200" dirty="0"/>
              <a:t>-------------------------------------------------9</a:t>
            </a:r>
            <a:endParaRPr lang="zh-TW" altLang="en-US" sz="3200" dirty="0"/>
          </a:p>
        </p:txBody>
      </p:sp>
      <p:sp>
        <p:nvSpPr>
          <p:cNvPr id="7" name="文字方塊 6">
            <a:extLst>
              <a:ext uri="{FF2B5EF4-FFF2-40B4-BE49-F238E27FC236}">
                <a16:creationId xmlns:a16="http://schemas.microsoft.com/office/drawing/2014/main" id="{01A1E902-13C3-4652-BD3B-BF4C473929E6}"/>
              </a:ext>
            </a:extLst>
          </p:cNvPr>
          <p:cNvSpPr txBox="1"/>
          <p:nvPr/>
        </p:nvSpPr>
        <p:spPr>
          <a:xfrm>
            <a:off x="1418642" y="3844677"/>
            <a:ext cx="10374290" cy="584775"/>
          </a:xfrm>
          <a:prstGeom prst="rect">
            <a:avLst/>
          </a:prstGeom>
          <a:noFill/>
        </p:spPr>
        <p:txBody>
          <a:bodyPr wrap="square" rtlCol="0">
            <a:spAutoFit/>
          </a:bodyPr>
          <a:lstStyle/>
          <a:p>
            <a:r>
              <a:rPr lang="en-US" altLang="zh-TW" sz="3200" dirty="0"/>
              <a:t>(</a:t>
            </a:r>
            <a:r>
              <a:rPr lang="zh-TW" altLang="en-US" sz="3200" dirty="0"/>
              <a:t>六</a:t>
            </a:r>
            <a:r>
              <a:rPr lang="en-US" altLang="zh-TW" sz="3200" dirty="0"/>
              <a:t>)Box-Cox</a:t>
            </a:r>
            <a:r>
              <a:rPr lang="zh-TW" altLang="en-US" sz="3200" dirty="0"/>
              <a:t>轉換</a:t>
            </a:r>
            <a:r>
              <a:rPr lang="en-US" altLang="zh-TW" sz="3200" dirty="0"/>
              <a:t>--------------------------------------------11</a:t>
            </a:r>
            <a:endParaRPr lang="zh-TW" altLang="en-US" sz="3200" dirty="0"/>
          </a:p>
        </p:txBody>
      </p:sp>
      <p:sp>
        <p:nvSpPr>
          <p:cNvPr id="9" name="文字方塊 8">
            <a:extLst>
              <a:ext uri="{FF2B5EF4-FFF2-40B4-BE49-F238E27FC236}">
                <a16:creationId xmlns:a16="http://schemas.microsoft.com/office/drawing/2014/main" id="{D9EE3183-2BC0-4BAE-A58E-BB84D856395C}"/>
              </a:ext>
            </a:extLst>
          </p:cNvPr>
          <p:cNvSpPr txBox="1"/>
          <p:nvPr/>
        </p:nvSpPr>
        <p:spPr>
          <a:xfrm>
            <a:off x="1418642" y="4429452"/>
            <a:ext cx="10474044" cy="584775"/>
          </a:xfrm>
          <a:prstGeom prst="rect">
            <a:avLst/>
          </a:prstGeom>
          <a:noFill/>
        </p:spPr>
        <p:txBody>
          <a:bodyPr wrap="square" rtlCol="0">
            <a:spAutoFit/>
          </a:bodyPr>
          <a:lstStyle/>
          <a:p>
            <a:r>
              <a:rPr lang="en-US" altLang="zh-TW" sz="3200" dirty="0"/>
              <a:t>(</a:t>
            </a:r>
            <a:r>
              <a:rPr lang="zh-TW" altLang="en-US" sz="3200" dirty="0"/>
              <a:t>七</a:t>
            </a:r>
            <a:r>
              <a:rPr lang="en-US" altLang="zh-TW" sz="3200" dirty="0"/>
              <a:t>)</a:t>
            </a:r>
            <a:r>
              <a:rPr lang="zh-TW" altLang="en-US" sz="3200" dirty="0"/>
              <a:t>模型選擇</a:t>
            </a:r>
            <a:r>
              <a:rPr lang="en-US" altLang="zh-TW" sz="3200" dirty="0"/>
              <a:t>------------------------------------------------15</a:t>
            </a:r>
            <a:endParaRPr lang="zh-TW" altLang="en-US" sz="3200" dirty="0"/>
          </a:p>
        </p:txBody>
      </p:sp>
      <p:sp>
        <p:nvSpPr>
          <p:cNvPr id="10" name="文字方塊 9">
            <a:extLst>
              <a:ext uri="{FF2B5EF4-FFF2-40B4-BE49-F238E27FC236}">
                <a16:creationId xmlns:a16="http://schemas.microsoft.com/office/drawing/2014/main" id="{02592C38-0A30-490A-A002-E2A34E4B604E}"/>
              </a:ext>
            </a:extLst>
          </p:cNvPr>
          <p:cNvSpPr txBox="1"/>
          <p:nvPr/>
        </p:nvSpPr>
        <p:spPr>
          <a:xfrm>
            <a:off x="1418642" y="5014227"/>
            <a:ext cx="10374289" cy="584775"/>
          </a:xfrm>
          <a:prstGeom prst="rect">
            <a:avLst/>
          </a:prstGeom>
          <a:noFill/>
        </p:spPr>
        <p:txBody>
          <a:bodyPr wrap="square" rtlCol="0">
            <a:spAutoFit/>
          </a:bodyPr>
          <a:lstStyle/>
          <a:p>
            <a:r>
              <a:rPr lang="en-US" altLang="zh-TW" sz="3200" dirty="0"/>
              <a:t>(</a:t>
            </a:r>
            <a:r>
              <a:rPr lang="zh-TW" altLang="en-US" sz="3200" dirty="0"/>
              <a:t>八</a:t>
            </a:r>
            <a:r>
              <a:rPr lang="en-US" altLang="zh-TW" sz="3200" dirty="0"/>
              <a:t>)</a:t>
            </a:r>
            <a:r>
              <a:rPr lang="zh-TW" altLang="en-US" sz="3200" dirty="0"/>
              <a:t>預測</a:t>
            </a:r>
            <a:r>
              <a:rPr lang="en-US" altLang="zh-TW" sz="3200" dirty="0"/>
              <a:t>------------------------------------------------------19</a:t>
            </a:r>
            <a:endParaRPr lang="zh-TW" altLang="en-US" sz="3200" dirty="0"/>
          </a:p>
        </p:txBody>
      </p:sp>
      <p:sp>
        <p:nvSpPr>
          <p:cNvPr id="11" name="文字方塊 10">
            <a:extLst>
              <a:ext uri="{FF2B5EF4-FFF2-40B4-BE49-F238E27FC236}">
                <a16:creationId xmlns:a16="http://schemas.microsoft.com/office/drawing/2014/main" id="{A764B2A3-1062-40C8-916B-1D383F976B02}"/>
              </a:ext>
            </a:extLst>
          </p:cNvPr>
          <p:cNvSpPr txBox="1"/>
          <p:nvPr/>
        </p:nvSpPr>
        <p:spPr>
          <a:xfrm>
            <a:off x="1418643" y="5599002"/>
            <a:ext cx="10374288" cy="584775"/>
          </a:xfrm>
          <a:prstGeom prst="rect">
            <a:avLst/>
          </a:prstGeom>
          <a:noFill/>
        </p:spPr>
        <p:txBody>
          <a:bodyPr wrap="square" rtlCol="0">
            <a:spAutoFit/>
          </a:bodyPr>
          <a:lstStyle/>
          <a:p>
            <a:r>
              <a:rPr lang="en-US" altLang="zh-TW" sz="3200" dirty="0"/>
              <a:t>(</a:t>
            </a:r>
            <a:r>
              <a:rPr lang="zh-TW" altLang="en-US" sz="3200" dirty="0"/>
              <a:t>九</a:t>
            </a:r>
            <a:r>
              <a:rPr lang="en-US" altLang="zh-TW" sz="3200" dirty="0"/>
              <a:t>)</a:t>
            </a:r>
            <a:r>
              <a:rPr lang="zh-TW" altLang="en-US" sz="3200" dirty="0"/>
              <a:t>建議</a:t>
            </a:r>
            <a:r>
              <a:rPr lang="en-US" altLang="zh-TW" sz="3200" dirty="0"/>
              <a:t>&amp;</a:t>
            </a:r>
            <a:r>
              <a:rPr lang="zh-TW" altLang="en-US" sz="3200" dirty="0"/>
              <a:t>結論</a:t>
            </a:r>
            <a:r>
              <a:rPr lang="en-US" altLang="zh-TW" sz="3200" dirty="0"/>
              <a:t>----------------------------------------------21</a:t>
            </a:r>
            <a:endParaRPr lang="zh-TW" altLang="en-US" sz="3200" dirty="0"/>
          </a:p>
        </p:txBody>
      </p:sp>
      <p:sp>
        <p:nvSpPr>
          <p:cNvPr id="12" name="文字方塊 11">
            <a:extLst>
              <a:ext uri="{FF2B5EF4-FFF2-40B4-BE49-F238E27FC236}">
                <a16:creationId xmlns:a16="http://schemas.microsoft.com/office/drawing/2014/main" id="{3B5FA9D7-15FB-4E9C-9268-872083061353}"/>
              </a:ext>
            </a:extLst>
          </p:cNvPr>
          <p:cNvSpPr txBox="1"/>
          <p:nvPr/>
        </p:nvSpPr>
        <p:spPr>
          <a:xfrm>
            <a:off x="1418637" y="917530"/>
            <a:ext cx="10374293" cy="584775"/>
          </a:xfrm>
          <a:prstGeom prst="rect">
            <a:avLst/>
          </a:prstGeom>
          <a:noFill/>
        </p:spPr>
        <p:txBody>
          <a:bodyPr wrap="square" rtlCol="0">
            <a:spAutoFit/>
          </a:bodyPr>
          <a:lstStyle/>
          <a:p>
            <a:r>
              <a:rPr lang="en-US" altLang="zh-TW" sz="3200" dirty="0"/>
              <a:t>(</a:t>
            </a:r>
            <a:r>
              <a:rPr lang="zh-TW" altLang="en-US" sz="3200" dirty="0"/>
              <a:t>一</a:t>
            </a:r>
            <a:r>
              <a:rPr lang="en-US" altLang="zh-TW" sz="3200" dirty="0"/>
              <a:t>)</a:t>
            </a:r>
            <a:r>
              <a:rPr lang="zh-TW" altLang="en-US" sz="3200" dirty="0"/>
              <a:t>緒論</a:t>
            </a:r>
            <a:r>
              <a:rPr lang="en-US" altLang="zh-TW" sz="3200" dirty="0"/>
              <a:t>-------------------------------------------------------1</a:t>
            </a:r>
            <a:endParaRPr lang="zh-TW" altLang="en-US" sz="3200" dirty="0"/>
          </a:p>
        </p:txBody>
      </p:sp>
    </p:spTree>
    <p:extLst>
      <p:ext uri="{BB962C8B-B14F-4D97-AF65-F5344CB8AC3E}">
        <p14:creationId xmlns:p14="http://schemas.microsoft.com/office/powerpoint/2010/main" val="7701144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C5ED9BE1-CD78-4214-8655-214207D4E381}"/>
              </a:ext>
            </a:extLst>
          </p:cNvPr>
          <p:cNvSpPr txBox="1"/>
          <p:nvPr/>
        </p:nvSpPr>
        <p:spPr>
          <a:xfrm>
            <a:off x="3800573" y="232164"/>
            <a:ext cx="4590854" cy="707886"/>
          </a:xfrm>
          <a:prstGeom prst="rect">
            <a:avLst/>
          </a:prstGeom>
          <a:noFill/>
        </p:spPr>
        <p:txBody>
          <a:bodyPr wrap="square" rtlCol="0">
            <a:spAutoFit/>
          </a:bodyPr>
          <a:lstStyle/>
          <a:p>
            <a:pPr algn="ctr"/>
            <a:r>
              <a:rPr lang="en-US" altLang="zh-TW" sz="4000" b="1" dirty="0"/>
              <a:t>(</a:t>
            </a:r>
            <a:r>
              <a:rPr lang="zh-TW" altLang="en-US" sz="4000" b="1" dirty="0"/>
              <a:t>一</a:t>
            </a:r>
            <a:r>
              <a:rPr lang="en-US" altLang="zh-TW" sz="4000" b="1" dirty="0"/>
              <a:t>)</a:t>
            </a:r>
            <a:r>
              <a:rPr lang="zh-TW" altLang="en-US" sz="4000" b="1" dirty="0"/>
              <a:t>緒論</a:t>
            </a:r>
          </a:p>
        </p:txBody>
      </p:sp>
      <p:sp>
        <p:nvSpPr>
          <p:cNvPr id="6" name="文字方塊 5">
            <a:extLst>
              <a:ext uri="{FF2B5EF4-FFF2-40B4-BE49-F238E27FC236}">
                <a16:creationId xmlns:a16="http://schemas.microsoft.com/office/drawing/2014/main" id="{8625C461-2F0B-4551-853E-00AF373CD454}"/>
              </a:ext>
            </a:extLst>
          </p:cNvPr>
          <p:cNvSpPr txBox="1"/>
          <p:nvPr/>
        </p:nvSpPr>
        <p:spPr>
          <a:xfrm>
            <a:off x="1084083" y="940050"/>
            <a:ext cx="3610466" cy="584775"/>
          </a:xfrm>
          <a:prstGeom prst="rect">
            <a:avLst/>
          </a:prstGeom>
          <a:noFill/>
        </p:spPr>
        <p:txBody>
          <a:bodyPr wrap="square" rtlCol="0">
            <a:spAutoFit/>
          </a:bodyPr>
          <a:lstStyle/>
          <a:p>
            <a:r>
              <a:rPr lang="en-US" altLang="zh-TW" sz="3200" b="1" dirty="0"/>
              <a:t>(1)</a:t>
            </a:r>
            <a:r>
              <a:rPr lang="zh-TW" altLang="en-US" sz="3200" b="1" dirty="0"/>
              <a:t>研究動機</a:t>
            </a:r>
          </a:p>
        </p:txBody>
      </p:sp>
      <p:sp>
        <p:nvSpPr>
          <p:cNvPr id="7" name="文字方塊 6">
            <a:extLst>
              <a:ext uri="{FF2B5EF4-FFF2-40B4-BE49-F238E27FC236}">
                <a16:creationId xmlns:a16="http://schemas.microsoft.com/office/drawing/2014/main" id="{AB84EBD1-8AD0-4A80-A8FE-4CC9C93B10DB}"/>
              </a:ext>
            </a:extLst>
          </p:cNvPr>
          <p:cNvSpPr txBox="1"/>
          <p:nvPr/>
        </p:nvSpPr>
        <p:spPr>
          <a:xfrm>
            <a:off x="1357460" y="1524825"/>
            <a:ext cx="9750457" cy="1569660"/>
          </a:xfrm>
          <a:prstGeom prst="rect">
            <a:avLst/>
          </a:prstGeom>
          <a:noFill/>
        </p:spPr>
        <p:txBody>
          <a:bodyPr wrap="square" rtlCol="0">
            <a:spAutoFit/>
          </a:bodyPr>
          <a:lstStyle/>
          <a:p>
            <a:r>
              <a:rPr lang="zh-TW" altLang="zh-TW" sz="2400" dirty="0"/>
              <a:t>房屋不僅可以用來居住 也是很好的投資工具。在我們的生活中，房子是不可或缺也不可忽視的一項財產和工具，所以了解影響房屋價格的因素就是一個足以讓人好奇與研究的課題，究竟房屋設施，居住環境是如何影響房價。</a:t>
            </a:r>
            <a:endParaRPr lang="zh-TW" altLang="en-US" sz="2400" dirty="0"/>
          </a:p>
        </p:txBody>
      </p:sp>
      <p:sp>
        <p:nvSpPr>
          <p:cNvPr id="8" name="文字方塊 7">
            <a:extLst>
              <a:ext uri="{FF2B5EF4-FFF2-40B4-BE49-F238E27FC236}">
                <a16:creationId xmlns:a16="http://schemas.microsoft.com/office/drawing/2014/main" id="{6CD5DF04-2DA5-4E2F-BD57-DE4831908176}"/>
              </a:ext>
            </a:extLst>
          </p:cNvPr>
          <p:cNvSpPr txBox="1"/>
          <p:nvPr/>
        </p:nvSpPr>
        <p:spPr>
          <a:xfrm>
            <a:off x="1084083" y="3663871"/>
            <a:ext cx="3610466" cy="584775"/>
          </a:xfrm>
          <a:prstGeom prst="rect">
            <a:avLst/>
          </a:prstGeom>
          <a:noFill/>
        </p:spPr>
        <p:txBody>
          <a:bodyPr wrap="square" rtlCol="0">
            <a:spAutoFit/>
          </a:bodyPr>
          <a:lstStyle/>
          <a:p>
            <a:r>
              <a:rPr lang="en-US" altLang="zh-TW" sz="3200" b="1" dirty="0"/>
              <a:t>(2)</a:t>
            </a:r>
            <a:r>
              <a:rPr lang="zh-TW" altLang="en-US" sz="3200" b="1" dirty="0"/>
              <a:t>研究目的</a:t>
            </a:r>
          </a:p>
        </p:txBody>
      </p:sp>
      <p:sp>
        <p:nvSpPr>
          <p:cNvPr id="9" name="文字方塊 8">
            <a:extLst>
              <a:ext uri="{FF2B5EF4-FFF2-40B4-BE49-F238E27FC236}">
                <a16:creationId xmlns:a16="http://schemas.microsoft.com/office/drawing/2014/main" id="{44D7E58A-0BC7-4A86-A0B8-331FAFC31D6F}"/>
              </a:ext>
            </a:extLst>
          </p:cNvPr>
          <p:cNvSpPr txBox="1"/>
          <p:nvPr/>
        </p:nvSpPr>
        <p:spPr>
          <a:xfrm>
            <a:off x="1357460" y="4248646"/>
            <a:ext cx="9750457" cy="830997"/>
          </a:xfrm>
          <a:prstGeom prst="rect">
            <a:avLst/>
          </a:prstGeom>
          <a:noFill/>
        </p:spPr>
        <p:txBody>
          <a:bodyPr wrap="square" rtlCol="0">
            <a:spAutoFit/>
          </a:bodyPr>
          <a:lstStyle/>
          <a:p>
            <a:r>
              <a:rPr lang="zh-TW" altLang="zh-TW" sz="2400" dirty="0"/>
              <a:t>我們預期越大的空間和配備越是齊全與便利的房屋，他們的優點會反應在房價上面。這也比較符合我們的生活經驗。</a:t>
            </a:r>
            <a:endParaRPr lang="zh-TW" altLang="en-US" sz="2400" dirty="0"/>
          </a:p>
        </p:txBody>
      </p:sp>
      <p:sp>
        <p:nvSpPr>
          <p:cNvPr id="5" name="投影片編號版面配置區 4">
            <a:extLst>
              <a:ext uri="{FF2B5EF4-FFF2-40B4-BE49-F238E27FC236}">
                <a16:creationId xmlns:a16="http://schemas.microsoft.com/office/drawing/2014/main" id="{85ED4573-9562-4EF5-97EA-A12E21C10746}"/>
              </a:ext>
            </a:extLst>
          </p:cNvPr>
          <p:cNvSpPr>
            <a:spLocks noGrp="1"/>
          </p:cNvSpPr>
          <p:nvPr>
            <p:ph type="sldNum" sz="quarter" idx="12"/>
          </p:nvPr>
        </p:nvSpPr>
        <p:spPr/>
        <p:txBody>
          <a:bodyPr/>
          <a:lstStyle/>
          <a:p>
            <a:r>
              <a:rPr lang="en-US" altLang="zh-TW" sz="2400" b="1" i="1" dirty="0"/>
              <a:t>1</a:t>
            </a:r>
            <a:endParaRPr lang="en-US" sz="2400" b="1" i="1" dirty="0"/>
          </a:p>
        </p:txBody>
      </p:sp>
    </p:spTree>
    <p:extLst>
      <p:ext uri="{BB962C8B-B14F-4D97-AF65-F5344CB8AC3E}">
        <p14:creationId xmlns:p14="http://schemas.microsoft.com/office/powerpoint/2010/main" val="15253127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4A7ECBE-6812-45CF-8A5C-222FF4FA7330}"/>
              </a:ext>
            </a:extLst>
          </p:cNvPr>
          <p:cNvSpPr txBox="1"/>
          <p:nvPr/>
        </p:nvSpPr>
        <p:spPr>
          <a:xfrm>
            <a:off x="1206633" y="873537"/>
            <a:ext cx="3610466" cy="584775"/>
          </a:xfrm>
          <a:prstGeom prst="rect">
            <a:avLst/>
          </a:prstGeom>
          <a:noFill/>
        </p:spPr>
        <p:txBody>
          <a:bodyPr wrap="square" rtlCol="0">
            <a:spAutoFit/>
          </a:bodyPr>
          <a:lstStyle/>
          <a:p>
            <a:r>
              <a:rPr lang="en-US" altLang="zh-TW" sz="3200" b="1" dirty="0"/>
              <a:t>(3)</a:t>
            </a:r>
            <a:r>
              <a:rPr lang="zh-TW" altLang="en-US" sz="3200" b="1" dirty="0"/>
              <a:t>研究方法</a:t>
            </a:r>
          </a:p>
        </p:txBody>
      </p:sp>
      <p:sp>
        <p:nvSpPr>
          <p:cNvPr id="5" name="文字方塊 4">
            <a:extLst>
              <a:ext uri="{FF2B5EF4-FFF2-40B4-BE49-F238E27FC236}">
                <a16:creationId xmlns:a16="http://schemas.microsoft.com/office/drawing/2014/main" id="{CE2A8227-99C4-4121-AC61-A7BC172116F7}"/>
              </a:ext>
            </a:extLst>
          </p:cNvPr>
          <p:cNvSpPr txBox="1"/>
          <p:nvPr/>
        </p:nvSpPr>
        <p:spPr>
          <a:xfrm>
            <a:off x="1547567" y="1458312"/>
            <a:ext cx="9096866" cy="1216058"/>
          </a:xfrm>
          <a:prstGeom prst="rect">
            <a:avLst/>
          </a:prstGeom>
          <a:noFill/>
        </p:spPr>
        <p:txBody>
          <a:bodyPr wrap="square" rtlCol="0">
            <a:spAutoFit/>
          </a:bodyPr>
          <a:lstStyle/>
          <a:p>
            <a:r>
              <a:rPr lang="zh-TW" altLang="zh-TW" sz="2400" dirty="0"/>
              <a:t>利用線性迴歸分析，對反應變數進行選配與訓練，完成後再對測試集檢測，以檢視模型的效果與好壞，並且期望刪除模型中不必要的因素。這可以幫助我們在未來選擇房子的一個重要參考。</a:t>
            </a:r>
            <a:endParaRPr lang="zh-TW" altLang="en-US" sz="2400" dirty="0"/>
          </a:p>
        </p:txBody>
      </p:sp>
      <p:sp>
        <p:nvSpPr>
          <p:cNvPr id="6" name="文字方塊 5">
            <a:extLst>
              <a:ext uri="{FF2B5EF4-FFF2-40B4-BE49-F238E27FC236}">
                <a16:creationId xmlns:a16="http://schemas.microsoft.com/office/drawing/2014/main" id="{5CA6426F-C88A-4118-9322-B1826EBF23FB}"/>
              </a:ext>
            </a:extLst>
          </p:cNvPr>
          <p:cNvSpPr txBox="1"/>
          <p:nvPr/>
        </p:nvSpPr>
        <p:spPr>
          <a:xfrm>
            <a:off x="1206633" y="3136612"/>
            <a:ext cx="3610466" cy="584775"/>
          </a:xfrm>
          <a:prstGeom prst="rect">
            <a:avLst/>
          </a:prstGeom>
          <a:noFill/>
        </p:spPr>
        <p:txBody>
          <a:bodyPr wrap="square" rtlCol="0">
            <a:spAutoFit/>
          </a:bodyPr>
          <a:lstStyle/>
          <a:p>
            <a:r>
              <a:rPr lang="en-US" altLang="zh-TW" sz="3200" b="1" dirty="0"/>
              <a:t>(3)</a:t>
            </a:r>
            <a:r>
              <a:rPr lang="zh-TW" altLang="en-US" sz="3200" b="1" dirty="0"/>
              <a:t>資料背景</a:t>
            </a:r>
          </a:p>
        </p:txBody>
      </p:sp>
      <p:sp>
        <p:nvSpPr>
          <p:cNvPr id="7" name="文字方塊 6">
            <a:extLst>
              <a:ext uri="{FF2B5EF4-FFF2-40B4-BE49-F238E27FC236}">
                <a16:creationId xmlns:a16="http://schemas.microsoft.com/office/drawing/2014/main" id="{9AFC9DCF-9DB0-44AF-8752-2A775A28C44E}"/>
              </a:ext>
            </a:extLst>
          </p:cNvPr>
          <p:cNvSpPr txBox="1"/>
          <p:nvPr/>
        </p:nvSpPr>
        <p:spPr>
          <a:xfrm>
            <a:off x="1547567" y="3721387"/>
            <a:ext cx="9096866" cy="1200329"/>
          </a:xfrm>
          <a:prstGeom prst="rect">
            <a:avLst/>
          </a:prstGeom>
          <a:noFill/>
        </p:spPr>
        <p:txBody>
          <a:bodyPr wrap="square" rtlCol="0">
            <a:spAutoFit/>
          </a:bodyPr>
          <a:lstStyle/>
          <a:p>
            <a:r>
              <a:rPr lang="zh-TW" altLang="zh-TW" sz="2400" dirty="0"/>
              <a:t>原始資料</a:t>
            </a:r>
            <a:r>
              <a:rPr lang="zh-TW" altLang="en-US" sz="2400" dirty="0"/>
              <a:t>上傳於</a:t>
            </a:r>
            <a:r>
              <a:rPr lang="en-US" altLang="zh-TW" sz="2400" dirty="0"/>
              <a:t>7</a:t>
            </a:r>
            <a:r>
              <a:rPr lang="zh-TW" altLang="en-US" sz="2400" dirty="0"/>
              <a:t>個月前，</a:t>
            </a:r>
            <a:r>
              <a:rPr lang="zh-TW" altLang="zh-TW" sz="2400" dirty="0"/>
              <a:t>並沒有過多的描述</a:t>
            </a:r>
            <a:r>
              <a:rPr lang="zh-TW" altLang="en-US" sz="2400" dirty="0"/>
              <a:t>。</a:t>
            </a:r>
            <a:endParaRPr lang="en-US" altLang="zh-TW" sz="2400" dirty="0"/>
          </a:p>
          <a:p>
            <a:r>
              <a:rPr lang="zh-TW" altLang="en-US" sz="2400" dirty="0"/>
              <a:t>推測資料房屋地區為南加州。</a:t>
            </a:r>
            <a:endParaRPr lang="en-US" altLang="zh-TW" sz="2400" dirty="0"/>
          </a:p>
          <a:p>
            <a:r>
              <a:rPr lang="zh-TW" altLang="en-US" sz="2400" dirty="0"/>
              <a:t>推測 價格單位</a:t>
            </a:r>
            <a:r>
              <a:rPr lang="en-US" altLang="zh-TW" sz="2400" dirty="0"/>
              <a:t>(</a:t>
            </a:r>
            <a:r>
              <a:rPr lang="zh-TW" altLang="en-US" sz="2400" dirty="0"/>
              <a:t>美元</a:t>
            </a:r>
            <a:r>
              <a:rPr lang="en-US" altLang="zh-TW" sz="2400" dirty="0"/>
              <a:t>) </a:t>
            </a:r>
            <a:r>
              <a:rPr lang="zh-TW" altLang="en-US" sz="2400" dirty="0"/>
              <a:t>區域單位</a:t>
            </a:r>
            <a:r>
              <a:rPr lang="en-US" altLang="zh-TW" sz="2400" dirty="0"/>
              <a:t>(</a:t>
            </a:r>
            <a:r>
              <a:rPr lang="zh-TW" altLang="en-US" sz="2400" dirty="0"/>
              <a:t>平方英尺</a:t>
            </a:r>
            <a:r>
              <a:rPr lang="en-US" altLang="zh-TW" sz="2400" dirty="0"/>
              <a:t>)</a:t>
            </a:r>
          </a:p>
        </p:txBody>
      </p:sp>
      <p:sp>
        <p:nvSpPr>
          <p:cNvPr id="8" name="矩形 7">
            <a:extLst>
              <a:ext uri="{FF2B5EF4-FFF2-40B4-BE49-F238E27FC236}">
                <a16:creationId xmlns:a16="http://schemas.microsoft.com/office/drawing/2014/main" id="{B2426576-18A0-4A3F-B9B0-4733E80DECA8}"/>
              </a:ext>
            </a:extLst>
          </p:cNvPr>
          <p:cNvSpPr/>
          <p:nvPr/>
        </p:nvSpPr>
        <p:spPr>
          <a:xfrm>
            <a:off x="1571117" y="5593033"/>
            <a:ext cx="8942894" cy="461665"/>
          </a:xfrm>
          <a:prstGeom prst="rect">
            <a:avLst/>
          </a:prstGeom>
        </p:spPr>
        <p:txBody>
          <a:bodyPr wrap="square">
            <a:spAutoFit/>
          </a:bodyPr>
          <a:lstStyle/>
          <a:p>
            <a:r>
              <a:rPr lang="zh-TW" altLang="en-US" sz="2400" dirty="0">
                <a:solidFill>
                  <a:srgbClr val="FF0000"/>
                </a:solidFill>
                <a:highlight>
                  <a:srgbClr val="FFFF00"/>
                </a:highlight>
              </a:rPr>
              <a:t>https://www.kaggle.com/datasets/mahikkaaa/housingregression</a:t>
            </a:r>
          </a:p>
        </p:txBody>
      </p:sp>
      <p:sp>
        <p:nvSpPr>
          <p:cNvPr id="9" name="文字方塊 8">
            <a:extLst>
              <a:ext uri="{FF2B5EF4-FFF2-40B4-BE49-F238E27FC236}">
                <a16:creationId xmlns:a16="http://schemas.microsoft.com/office/drawing/2014/main" id="{EA98338A-AA51-42DC-9537-8188885B7679}"/>
              </a:ext>
            </a:extLst>
          </p:cNvPr>
          <p:cNvSpPr txBox="1"/>
          <p:nvPr/>
        </p:nvSpPr>
        <p:spPr>
          <a:xfrm>
            <a:off x="1547567" y="5008258"/>
            <a:ext cx="4383463" cy="584775"/>
          </a:xfrm>
          <a:prstGeom prst="rect">
            <a:avLst/>
          </a:prstGeom>
          <a:noFill/>
        </p:spPr>
        <p:txBody>
          <a:bodyPr wrap="square" rtlCol="0">
            <a:spAutoFit/>
          </a:bodyPr>
          <a:lstStyle/>
          <a:p>
            <a:r>
              <a:rPr lang="zh-TW" altLang="en-US" sz="3200" b="1" dirty="0"/>
              <a:t>以下是資料的網址</a:t>
            </a:r>
            <a:r>
              <a:rPr lang="en-US" altLang="zh-TW" sz="3200" b="1" dirty="0"/>
              <a:t>:</a:t>
            </a:r>
            <a:endParaRPr lang="zh-TW" altLang="en-US" sz="3200" b="1" dirty="0"/>
          </a:p>
        </p:txBody>
      </p:sp>
      <p:sp>
        <p:nvSpPr>
          <p:cNvPr id="10" name="投影片編號版面配置區 9">
            <a:extLst>
              <a:ext uri="{FF2B5EF4-FFF2-40B4-BE49-F238E27FC236}">
                <a16:creationId xmlns:a16="http://schemas.microsoft.com/office/drawing/2014/main" id="{893513B9-6A63-4BB6-84CF-4005A9B4F918}"/>
              </a:ext>
            </a:extLst>
          </p:cNvPr>
          <p:cNvSpPr>
            <a:spLocks noGrp="1"/>
          </p:cNvSpPr>
          <p:nvPr>
            <p:ph type="sldNum" sz="quarter" idx="12"/>
          </p:nvPr>
        </p:nvSpPr>
        <p:spPr/>
        <p:txBody>
          <a:bodyPr/>
          <a:lstStyle/>
          <a:p>
            <a:r>
              <a:rPr lang="en-US" altLang="zh-TW" sz="2200" b="1" i="1" dirty="0"/>
              <a:t>2</a:t>
            </a:r>
            <a:endParaRPr lang="en-US" sz="2200" b="1" i="1" dirty="0"/>
          </a:p>
        </p:txBody>
      </p:sp>
    </p:spTree>
    <p:extLst>
      <p:ext uri="{BB962C8B-B14F-4D97-AF65-F5344CB8AC3E}">
        <p14:creationId xmlns:p14="http://schemas.microsoft.com/office/powerpoint/2010/main" val="28945289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4A7ECBE-6812-45CF-8A5C-222FF4FA7330}"/>
              </a:ext>
            </a:extLst>
          </p:cNvPr>
          <p:cNvSpPr txBox="1"/>
          <p:nvPr/>
        </p:nvSpPr>
        <p:spPr>
          <a:xfrm>
            <a:off x="1206633" y="873537"/>
            <a:ext cx="3610466" cy="584775"/>
          </a:xfrm>
          <a:prstGeom prst="rect">
            <a:avLst/>
          </a:prstGeom>
          <a:noFill/>
        </p:spPr>
        <p:txBody>
          <a:bodyPr wrap="square" rtlCol="0">
            <a:spAutoFit/>
          </a:bodyPr>
          <a:lstStyle/>
          <a:p>
            <a:r>
              <a:rPr lang="zh-TW" altLang="en-US" sz="3200" b="1" dirty="0"/>
              <a:t>資料介紹</a:t>
            </a:r>
          </a:p>
        </p:txBody>
      </p:sp>
      <p:sp>
        <p:nvSpPr>
          <p:cNvPr id="5" name="文字方塊 4">
            <a:extLst>
              <a:ext uri="{FF2B5EF4-FFF2-40B4-BE49-F238E27FC236}">
                <a16:creationId xmlns:a16="http://schemas.microsoft.com/office/drawing/2014/main" id="{CE2A8227-99C4-4121-AC61-A7BC172116F7}"/>
              </a:ext>
            </a:extLst>
          </p:cNvPr>
          <p:cNvSpPr txBox="1"/>
          <p:nvPr/>
        </p:nvSpPr>
        <p:spPr>
          <a:xfrm>
            <a:off x="1206633" y="1770494"/>
            <a:ext cx="4889367" cy="1477328"/>
          </a:xfrm>
          <a:prstGeom prst="rect">
            <a:avLst/>
          </a:prstGeom>
          <a:noFill/>
        </p:spPr>
        <p:txBody>
          <a:bodyPr wrap="square" rtlCol="0">
            <a:spAutoFit/>
          </a:bodyPr>
          <a:lstStyle/>
          <a:p>
            <a:r>
              <a:rPr lang="en-US" altLang="zh-TW" dirty="0"/>
              <a:t>(1)</a:t>
            </a:r>
            <a:r>
              <a:rPr lang="zh-TW" altLang="en-US" dirty="0"/>
              <a:t> </a:t>
            </a:r>
            <a:r>
              <a:rPr lang="zh-TW" altLang="zh-TW" dirty="0"/>
              <a:t>根據調查，美國的房屋習慣以平方英尺為單位計算。</a:t>
            </a:r>
          </a:p>
          <a:p>
            <a:r>
              <a:rPr lang="zh-TW" altLang="en-US" dirty="0"/>
              <a:t>     </a:t>
            </a:r>
            <a:r>
              <a:rPr lang="zh-TW" altLang="zh-TW" dirty="0"/>
              <a:t>資料的區域</a:t>
            </a:r>
            <a:r>
              <a:rPr lang="en-US" altLang="zh-TW" dirty="0"/>
              <a:t>(</a:t>
            </a:r>
            <a:r>
              <a:rPr lang="zh-TW" altLang="zh-TW" dirty="0"/>
              <a:t>或稱面積</a:t>
            </a:r>
            <a:r>
              <a:rPr lang="en-US" altLang="zh-TW" dirty="0"/>
              <a:t>)</a:t>
            </a:r>
            <a:r>
              <a:rPr lang="zh-TW" altLang="zh-TW" dirty="0"/>
              <a:t>中位數約略落在</a:t>
            </a:r>
            <a:r>
              <a:rPr lang="en-US" altLang="zh-TW" dirty="0"/>
              <a:t>4600</a:t>
            </a:r>
            <a:r>
              <a:rPr lang="zh-TW" altLang="zh-TW" dirty="0"/>
              <a:t>平方英尺，相當於</a:t>
            </a:r>
            <a:r>
              <a:rPr lang="en-US" altLang="zh-TW" dirty="0"/>
              <a:t>130</a:t>
            </a:r>
            <a:r>
              <a:rPr lang="zh-TW" altLang="zh-TW" dirty="0"/>
              <a:t>台坪左右。</a:t>
            </a:r>
          </a:p>
          <a:p>
            <a:r>
              <a:rPr lang="zh-TW" altLang="en-US" dirty="0"/>
              <a:t>     </a:t>
            </a:r>
            <a:r>
              <a:rPr lang="zh-TW" altLang="zh-TW" dirty="0"/>
              <a:t>美國住宅每戶的平均大小約為</a:t>
            </a:r>
            <a:r>
              <a:rPr lang="en-US" altLang="zh-TW" dirty="0"/>
              <a:t>72.6</a:t>
            </a:r>
            <a:r>
              <a:rPr lang="zh-TW" altLang="zh-TW" dirty="0"/>
              <a:t>坪</a:t>
            </a:r>
            <a:endParaRPr lang="zh-TW" altLang="en-US" sz="2400" dirty="0"/>
          </a:p>
        </p:txBody>
      </p:sp>
      <p:sp>
        <p:nvSpPr>
          <p:cNvPr id="10" name="文字方塊 9">
            <a:extLst>
              <a:ext uri="{FF2B5EF4-FFF2-40B4-BE49-F238E27FC236}">
                <a16:creationId xmlns:a16="http://schemas.microsoft.com/office/drawing/2014/main" id="{306026EB-096A-490B-982F-F1CFE57FF0D4}"/>
              </a:ext>
            </a:extLst>
          </p:cNvPr>
          <p:cNvSpPr txBox="1"/>
          <p:nvPr/>
        </p:nvSpPr>
        <p:spPr>
          <a:xfrm>
            <a:off x="1206633" y="3366317"/>
            <a:ext cx="5044877" cy="1538883"/>
          </a:xfrm>
          <a:prstGeom prst="rect">
            <a:avLst/>
          </a:prstGeom>
          <a:noFill/>
        </p:spPr>
        <p:txBody>
          <a:bodyPr wrap="square" rtlCol="0">
            <a:spAutoFit/>
          </a:bodyPr>
          <a:lstStyle/>
          <a:p>
            <a:r>
              <a:rPr lang="en-US" altLang="zh-TW" dirty="0"/>
              <a:t>(2)</a:t>
            </a:r>
            <a:r>
              <a:rPr lang="zh-TW" altLang="zh-TW" dirty="0"/>
              <a:t>加州熱門地區</a:t>
            </a:r>
            <a:r>
              <a:rPr lang="en-US" altLang="zh-TW" dirty="0"/>
              <a:t>(</a:t>
            </a:r>
            <a:r>
              <a:rPr lang="zh-TW" altLang="zh-TW" dirty="0"/>
              <a:t>洛杉磯、舊金山、聖地亞哥</a:t>
            </a:r>
            <a:r>
              <a:rPr lang="en-US" altLang="zh-TW" dirty="0"/>
              <a:t>)</a:t>
            </a:r>
            <a:r>
              <a:rPr lang="zh-TW" altLang="en-US" dirty="0"/>
              <a:t> </a:t>
            </a:r>
            <a:endParaRPr lang="en-US" altLang="zh-TW" dirty="0"/>
          </a:p>
          <a:p>
            <a:r>
              <a:rPr lang="zh-TW" altLang="en-US" dirty="0"/>
              <a:t>    </a:t>
            </a:r>
            <a:r>
              <a:rPr lang="zh-TW" altLang="zh-TW" dirty="0"/>
              <a:t>的房價每平方英尺幾乎都可以突破</a:t>
            </a:r>
            <a:r>
              <a:rPr lang="en-US" altLang="zh-TW" dirty="0"/>
              <a:t>500</a:t>
            </a:r>
            <a:r>
              <a:rPr lang="zh-TW" altLang="zh-TW" dirty="0"/>
              <a:t>美元</a:t>
            </a:r>
            <a:endParaRPr lang="en-US" altLang="zh-TW" dirty="0"/>
          </a:p>
          <a:p>
            <a:r>
              <a:rPr lang="zh-TW" altLang="en-US" dirty="0"/>
              <a:t>    </a:t>
            </a:r>
            <a:r>
              <a:rPr lang="en-US" altLang="zh-TW" dirty="0"/>
              <a:t>(</a:t>
            </a:r>
            <a:r>
              <a:rPr lang="zh-TW" altLang="zh-TW" dirty="0"/>
              <a:t>這是不考慮房屋品質與裝潢下</a:t>
            </a:r>
            <a:r>
              <a:rPr lang="en-US" altLang="zh-TW" dirty="0"/>
              <a:t>)</a:t>
            </a:r>
            <a:r>
              <a:rPr lang="zh-TW" altLang="en-US" dirty="0"/>
              <a:t> </a:t>
            </a:r>
            <a:endParaRPr lang="en-US" altLang="zh-TW" sz="2400" dirty="0"/>
          </a:p>
          <a:p>
            <a:r>
              <a:rPr lang="zh-TW" altLang="en-US" sz="2400" dirty="0"/>
              <a:t>   </a:t>
            </a:r>
            <a:r>
              <a:rPr lang="zh-TW" altLang="en-US" dirty="0">
                <a:highlight>
                  <a:srgbClr val="FFFF00"/>
                </a:highlight>
              </a:rPr>
              <a:t>資訊來自</a:t>
            </a:r>
            <a:r>
              <a:rPr lang="en-US" altLang="zh-TW" dirty="0">
                <a:highlight>
                  <a:srgbClr val="FFFF00"/>
                </a:highlight>
              </a:rPr>
              <a:t>:</a:t>
            </a:r>
          </a:p>
          <a:p>
            <a:r>
              <a:rPr lang="zh-TW" altLang="en-US" sz="1600" i="1" dirty="0">
                <a:highlight>
                  <a:srgbClr val="FFFF00"/>
                </a:highlight>
              </a:rPr>
              <a:t>    </a:t>
            </a:r>
            <a:r>
              <a:rPr lang="en-US" altLang="zh-TW" sz="1600" i="1" dirty="0">
                <a:highlight>
                  <a:srgbClr val="FFFF00"/>
                </a:highlight>
              </a:rPr>
              <a:t>[</a:t>
            </a:r>
            <a:r>
              <a:rPr lang="zh-TW" altLang="en-US" sz="1600" i="1" dirty="0">
                <a:highlight>
                  <a:srgbClr val="FFFF00"/>
                </a:highlight>
              </a:rPr>
              <a:t>大紀元</a:t>
            </a:r>
            <a:r>
              <a:rPr lang="en-US" altLang="zh-TW" sz="1600" i="1" dirty="0">
                <a:highlight>
                  <a:srgbClr val="FFFF00"/>
                </a:highlight>
              </a:rPr>
              <a:t>]</a:t>
            </a:r>
            <a:r>
              <a:rPr lang="zh-TW" altLang="en-US" sz="1600" i="1" dirty="0">
                <a:highlight>
                  <a:srgbClr val="FFFF00"/>
                </a:highlight>
              </a:rPr>
              <a:t> 加州房價最便宜與最貴的郵編地區有哪些？</a:t>
            </a:r>
            <a:endParaRPr lang="en-US" altLang="zh-TW" sz="1600" i="1" dirty="0">
              <a:highlight>
                <a:srgbClr val="FFFF00"/>
              </a:highlight>
            </a:endParaRPr>
          </a:p>
        </p:txBody>
      </p:sp>
      <p:sp>
        <p:nvSpPr>
          <p:cNvPr id="11" name="文字方塊 10">
            <a:extLst>
              <a:ext uri="{FF2B5EF4-FFF2-40B4-BE49-F238E27FC236}">
                <a16:creationId xmlns:a16="http://schemas.microsoft.com/office/drawing/2014/main" id="{40F5D0D4-ECA4-4674-991F-9BEFD0662B88}"/>
              </a:ext>
            </a:extLst>
          </p:cNvPr>
          <p:cNvSpPr txBox="1"/>
          <p:nvPr/>
        </p:nvSpPr>
        <p:spPr>
          <a:xfrm>
            <a:off x="1206633" y="5054472"/>
            <a:ext cx="4889367" cy="646331"/>
          </a:xfrm>
          <a:prstGeom prst="rect">
            <a:avLst/>
          </a:prstGeom>
          <a:noFill/>
        </p:spPr>
        <p:txBody>
          <a:bodyPr wrap="square" rtlCol="0">
            <a:spAutoFit/>
          </a:bodyPr>
          <a:lstStyle/>
          <a:p>
            <a:r>
              <a:rPr lang="en-US" altLang="zh-TW" dirty="0"/>
              <a:t>(3)</a:t>
            </a:r>
            <a:r>
              <a:rPr lang="zh-TW" altLang="en-US" dirty="0"/>
              <a:t>南加州的建築風格更偏</a:t>
            </a:r>
            <a:r>
              <a:rPr lang="zh-TW" altLang="zh-TW" dirty="0"/>
              <a:t>西班牙風格住宅</a:t>
            </a:r>
            <a:endParaRPr lang="en-US" altLang="zh-TW" dirty="0"/>
          </a:p>
          <a:p>
            <a:r>
              <a:rPr lang="zh-TW" altLang="en-US" dirty="0"/>
              <a:t>    </a:t>
            </a:r>
            <a:r>
              <a:rPr lang="en-US" altLang="zh-TW" dirty="0"/>
              <a:t>(</a:t>
            </a:r>
            <a:r>
              <a:rPr lang="zh-TW" altLang="en-US" dirty="0"/>
              <a:t>上圖</a:t>
            </a:r>
            <a:r>
              <a:rPr lang="en-US" altLang="zh-TW" dirty="0"/>
              <a:t>)</a:t>
            </a:r>
            <a:r>
              <a:rPr lang="zh-TW" altLang="en-US" dirty="0"/>
              <a:t>資料附圖  </a:t>
            </a:r>
            <a:r>
              <a:rPr lang="en-US" altLang="zh-TW" dirty="0"/>
              <a:t>(</a:t>
            </a:r>
            <a:r>
              <a:rPr lang="zh-TW" altLang="en-US" dirty="0"/>
              <a:t>下圖</a:t>
            </a:r>
            <a:r>
              <a:rPr lang="en-US" altLang="zh-TW" dirty="0"/>
              <a:t>)</a:t>
            </a:r>
            <a:r>
              <a:rPr lang="zh-TW" altLang="en-US" dirty="0"/>
              <a:t>西班牙風格的房屋</a:t>
            </a:r>
            <a:endParaRPr lang="zh-TW" altLang="zh-TW" dirty="0"/>
          </a:p>
        </p:txBody>
      </p:sp>
      <p:pic>
        <p:nvPicPr>
          <p:cNvPr id="12" name="圖片 11">
            <a:extLst>
              <a:ext uri="{FF2B5EF4-FFF2-40B4-BE49-F238E27FC236}">
                <a16:creationId xmlns:a16="http://schemas.microsoft.com/office/drawing/2014/main" id="{0FAF543D-BDC7-457C-AF42-CFE90C903FE6}"/>
              </a:ext>
            </a:extLst>
          </p:cNvPr>
          <p:cNvPicPr>
            <a:picLocks noChangeAspect="1"/>
          </p:cNvPicPr>
          <p:nvPr/>
        </p:nvPicPr>
        <p:blipFill>
          <a:blip r:embed="rId2"/>
          <a:stretch>
            <a:fillRect/>
          </a:stretch>
        </p:blipFill>
        <p:spPr>
          <a:xfrm>
            <a:off x="6913982" y="1134318"/>
            <a:ext cx="4364243" cy="2442493"/>
          </a:xfrm>
          <a:prstGeom prst="rect">
            <a:avLst/>
          </a:prstGeom>
          <a:ln>
            <a:noFill/>
          </a:ln>
          <a:effectLst>
            <a:softEdge rad="112500"/>
          </a:effectLst>
        </p:spPr>
      </p:pic>
      <p:pic>
        <p:nvPicPr>
          <p:cNvPr id="15" name="圖片 14" descr="西班牙系列- 平板瓦系列- 實績相簿| 百匠屋瓦有限公司">
            <a:extLst>
              <a:ext uri="{FF2B5EF4-FFF2-40B4-BE49-F238E27FC236}">
                <a16:creationId xmlns:a16="http://schemas.microsoft.com/office/drawing/2014/main" id="{E4832F5B-D5C9-4F84-8EAC-2E8593127A1C}"/>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913983" y="3576812"/>
            <a:ext cx="4364243" cy="2306463"/>
          </a:xfrm>
          <a:prstGeom prst="rect">
            <a:avLst/>
          </a:prstGeom>
          <a:ln>
            <a:noFill/>
          </a:ln>
          <a:effectLst>
            <a:softEdge rad="112500"/>
          </a:effectLst>
        </p:spPr>
      </p:pic>
      <p:sp>
        <p:nvSpPr>
          <p:cNvPr id="18" name="投影片編號版面配置區 17">
            <a:extLst>
              <a:ext uri="{FF2B5EF4-FFF2-40B4-BE49-F238E27FC236}">
                <a16:creationId xmlns:a16="http://schemas.microsoft.com/office/drawing/2014/main" id="{0809C96C-F794-4FC1-A7B3-AF7FE9B90593}"/>
              </a:ext>
            </a:extLst>
          </p:cNvPr>
          <p:cNvSpPr>
            <a:spLocks noGrp="1"/>
          </p:cNvSpPr>
          <p:nvPr>
            <p:ph type="sldNum" sz="quarter" idx="12"/>
          </p:nvPr>
        </p:nvSpPr>
        <p:spPr/>
        <p:txBody>
          <a:bodyPr/>
          <a:lstStyle/>
          <a:p>
            <a:r>
              <a:rPr lang="en-US" altLang="zh-TW" sz="2200" b="1" i="1" dirty="0"/>
              <a:t>3</a:t>
            </a:r>
            <a:endParaRPr lang="en-US" sz="2200" b="1" i="1" dirty="0"/>
          </a:p>
        </p:txBody>
      </p:sp>
    </p:spTree>
    <p:extLst>
      <p:ext uri="{BB962C8B-B14F-4D97-AF65-F5344CB8AC3E}">
        <p14:creationId xmlns:p14="http://schemas.microsoft.com/office/powerpoint/2010/main" val="42325497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4A7ECBE-6812-45CF-8A5C-222FF4FA7330}"/>
              </a:ext>
            </a:extLst>
          </p:cNvPr>
          <p:cNvSpPr txBox="1"/>
          <p:nvPr/>
        </p:nvSpPr>
        <p:spPr>
          <a:xfrm>
            <a:off x="1206633" y="873537"/>
            <a:ext cx="3610466" cy="584775"/>
          </a:xfrm>
          <a:prstGeom prst="rect">
            <a:avLst/>
          </a:prstGeom>
          <a:noFill/>
        </p:spPr>
        <p:txBody>
          <a:bodyPr wrap="square" rtlCol="0">
            <a:spAutoFit/>
          </a:bodyPr>
          <a:lstStyle/>
          <a:p>
            <a:r>
              <a:rPr lang="zh-TW" altLang="en-US" sz="3200" b="1" dirty="0"/>
              <a:t>資料介紹</a:t>
            </a:r>
          </a:p>
        </p:txBody>
      </p:sp>
      <p:sp>
        <p:nvSpPr>
          <p:cNvPr id="5" name="文字方塊 4">
            <a:extLst>
              <a:ext uri="{FF2B5EF4-FFF2-40B4-BE49-F238E27FC236}">
                <a16:creationId xmlns:a16="http://schemas.microsoft.com/office/drawing/2014/main" id="{CE2A8227-99C4-4121-AC61-A7BC172116F7}"/>
              </a:ext>
            </a:extLst>
          </p:cNvPr>
          <p:cNvSpPr txBox="1"/>
          <p:nvPr/>
        </p:nvSpPr>
        <p:spPr>
          <a:xfrm>
            <a:off x="1206633" y="1770494"/>
            <a:ext cx="4889367" cy="646331"/>
          </a:xfrm>
          <a:prstGeom prst="rect">
            <a:avLst/>
          </a:prstGeom>
          <a:noFill/>
        </p:spPr>
        <p:txBody>
          <a:bodyPr wrap="square" rtlCol="0">
            <a:spAutoFit/>
          </a:bodyPr>
          <a:lstStyle/>
          <a:p>
            <a:r>
              <a:rPr lang="en-US" altLang="zh-TW" dirty="0"/>
              <a:t>(4)</a:t>
            </a:r>
            <a:r>
              <a:rPr lang="zh-TW" altLang="zh-TW" dirty="0"/>
              <a:t>圖片的景色也相當類似於孟菲斯傳奇公園</a:t>
            </a:r>
            <a:r>
              <a:rPr lang="en-US" altLang="zh-TW" dirty="0"/>
              <a:t> </a:t>
            </a:r>
            <a:r>
              <a:rPr lang="zh-TW" altLang="en-US" dirty="0"/>
              <a:t>   </a:t>
            </a:r>
            <a:endParaRPr lang="en-US" altLang="zh-TW" dirty="0"/>
          </a:p>
          <a:p>
            <a:r>
              <a:rPr lang="zh-TW" altLang="en-US" dirty="0"/>
              <a:t>    </a:t>
            </a:r>
            <a:r>
              <a:rPr lang="en-US" altLang="zh-TW" dirty="0"/>
              <a:t>(Legends Park West )</a:t>
            </a:r>
            <a:r>
              <a:rPr lang="zh-TW" altLang="zh-TW" dirty="0"/>
              <a:t>的街景。</a:t>
            </a:r>
            <a:endParaRPr lang="zh-TW" altLang="en-US" sz="2400" dirty="0"/>
          </a:p>
        </p:txBody>
      </p:sp>
      <p:pic>
        <p:nvPicPr>
          <p:cNvPr id="8" name="圖片 7" descr="五棟兩層樓聯排別墅的照片。">
            <a:extLst>
              <a:ext uri="{FF2B5EF4-FFF2-40B4-BE49-F238E27FC236}">
                <a16:creationId xmlns:a16="http://schemas.microsoft.com/office/drawing/2014/main" id="{FE7597AE-A472-4BFF-8985-8888F361AAAE}"/>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206633" y="2729007"/>
            <a:ext cx="4301411" cy="3689326"/>
          </a:xfrm>
          <a:prstGeom prst="rect">
            <a:avLst/>
          </a:prstGeom>
          <a:ln>
            <a:noFill/>
          </a:ln>
          <a:effectLst>
            <a:softEdge rad="112500"/>
          </a:effectLst>
        </p:spPr>
      </p:pic>
      <p:pic>
        <p:nvPicPr>
          <p:cNvPr id="9" name="圖片 8">
            <a:extLst>
              <a:ext uri="{FF2B5EF4-FFF2-40B4-BE49-F238E27FC236}">
                <a16:creationId xmlns:a16="http://schemas.microsoft.com/office/drawing/2014/main" id="{393C24AE-59F7-4A98-82E9-F28863116176}"/>
              </a:ext>
            </a:extLst>
          </p:cNvPr>
          <p:cNvPicPr/>
          <p:nvPr/>
        </p:nvPicPr>
        <p:blipFill>
          <a:blip r:embed="rId3"/>
          <a:stretch>
            <a:fillRect/>
          </a:stretch>
        </p:blipFill>
        <p:spPr>
          <a:xfrm>
            <a:off x="6086123" y="1782147"/>
            <a:ext cx="4889367" cy="3305359"/>
          </a:xfrm>
          <a:prstGeom prst="rect">
            <a:avLst/>
          </a:prstGeom>
          <a:ln>
            <a:noFill/>
          </a:ln>
          <a:effectLst>
            <a:softEdge rad="112500"/>
          </a:effectLst>
        </p:spPr>
      </p:pic>
      <p:sp>
        <p:nvSpPr>
          <p:cNvPr id="2" name="橢圓 1">
            <a:extLst>
              <a:ext uri="{FF2B5EF4-FFF2-40B4-BE49-F238E27FC236}">
                <a16:creationId xmlns:a16="http://schemas.microsoft.com/office/drawing/2014/main" id="{8A5B57FB-FA85-4FD0-9918-375B9E7CE66C}"/>
              </a:ext>
            </a:extLst>
          </p:cNvPr>
          <p:cNvSpPr/>
          <p:nvPr/>
        </p:nvSpPr>
        <p:spPr>
          <a:xfrm>
            <a:off x="8530806" y="4363731"/>
            <a:ext cx="874451" cy="419877"/>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pic>
        <p:nvPicPr>
          <p:cNvPr id="13" name="圖片 12">
            <a:extLst>
              <a:ext uri="{FF2B5EF4-FFF2-40B4-BE49-F238E27FC236}">
                <a16:creationId xmlns:a16="http://schemas.microsoft.com/office/drawing/2014/main" id="{A9C3B715-CE8A-44C6-8754-A058E118C70A}"/>
              </a:ext>
            </a:extLst>
          </p:cNvPr>
          <p:cNvPicPr/>
          <p:nvPr/>
        </p:nvPicPr>
        <p:blipFill>
          <a:blip r:embed="rId4"/>
          <a:stretch>
            <a:fillRect/>
          </a:stretch>
        </p:blipFill>
        <p:spPr>
          <a:xfrm>
            <a:off x="6165497" y="5075853"/>
            <a:ext cx="4730621" cy="1061292"/>
          </a:xfrm>
          <a:prstGeom prst="rect">
            <a:avLst/>
          </a:prstGeom>
        </p:spPr>
      </p:pic>
      <p:sp>
        <p:nvSpPr>
          <p:cNvPr id="16" name="投影片編號版面配置區 15">
            <a:extLst>
              <a:ext uri="{FF2B5EF4-FFF2-40B4-BE49-F238E27FC236}">
                <a16:creationId xmlns:a16="http://schemas.microsoft.com/office/drawing/2014/main" id="{A604BB52-40FE-414D-92ED-931E9D4C790E}"/>
              </a:ext>
            </a:extLst>
          </p:cNvPr>
          <p:cNvSpPr>
            <a:spLocks noGrp="1"/>
          </p:cNvSpPr>
          <p:nvPr>
            <p:ph type="sldNum" sz="quarter" idx="12"/>
          </p:nvPr>
        </p:nvSpPr>
        <p:spPr>
          <a:xfrm>
            <a:off x="10514011" y="5883275"/>
            <a:ext cx="764215" cy="365125"/>
          </a:xfrm>
        </p:spPr>
        <p:txBody>
          <a:bodyPr/>
          <a:lstStyle/>
          <a:p>
            <a:r>
              <a:rPr lang="en-US" altLang="zh-TW" sz="2200" b="1" i="1" dirty="0"/>
              <a:t>4</a:t>
            </a:r>
            <a:endParaRPr lang="en-US" sz="2200" b="1" i="1" dirty="0"/>
          </a:p>
        </p:txBody>
      </p:sp>
      <p:sp>
        <p:nvSpPr>
          <p:cNvPr id="4" name="矩形 3">
            <a:extLst>
              <a:ext uri="{FF2B5EF4-FFF2-40B4-BE49-F238E27FC236}">
                <a16:creationId xmlns:a16="http://schemas.microsoft.com/office/drawing/2014/main" id="{BEE42E26-F1FD-4EF8-8974-96409AC13E04}"/>
              </a:ext>
            </a:extLst>
          </p:cNvPr>
          <p:cNvSpPr/>
          <p:nvPr/>
        </p:nvSpPr>
        <p:spPr>
          <a:xfrm>
            <a:off x="6232849" y="2729007"/>
            <a:ext cx="830424" cy="126160"/>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5171441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C405655A-3342-4AA9-990B-90DE66AFF069}"/>
              </a:ext>
            </a:extLst>
          </p:cNvPr>
          <p:cNvSpPr txBox="1"/>
          <p:nvPr/>
        </p:nvSpPr>
        <p:spPr>
          <a:xfrm>
            <a:off x="3800573" y="232164"/>
            <a:ext cx="4590854" cy="707886"/>
          </a:xfrm>
          <a:prstGeom prst="rect">
            <a:avLst/>
          </a:prstGeom>
          <a:noFill/>
        </p:spPr>
        <p:txBody>
          <a:bodyPr wrap="square" rtlCol="0">
            <a:spAutoFit/>
          </a:bodyPr>
          <a:lstStyle/>
          <a:p>
            <a:pPr algn="ctr"/>
            <a:r>
              <a:rPr lang="en-US" altLang="zh-TW" sz="4000" b="1" dirty="0"/>
              <a:t>(</a:t>
            </a:r>
            <a:r>
              <a:rPr lang="zh-TW" altLang="en-US" sz="4000" b="1" dirty="0"/>
              <a:t>二</a:t>
            </a:r>
            <a:r>
              <a:rPr lang="en-US" altLang="zh-TW" sz="4000" b="1" dirty="0"/>
              <a:t>)</a:t>
            </a:r>
            <a:r>
              <a:rPr lang="zh-TW" altLang="en-US" sz="4000" b="1" dirty="0"/>
              <a:t>流程介紹</a:t>
            </a:r>
          </a:p>
        </p:txBody>
      </p:sp>
      <p:sp>
        <p:nvSpPr>
          <p:cNvPr id="14" name="矩形: 圓角 13">
            <a:extLst>
              <a:ext uri="{FF2B5EF4-FFF2-40B4-BE49-F238E27FC236}">
                <a16:creationId xmlns:a16="http://schemas.microsoft.com/office/drawing/2014/main" id="{85E6E588-2F70-4FC4-A61B-ACED4B842BA9}"/>
              </a:ext>
            </a:extLst>
          </p:cNvPr>
          <p:cNvSpPr/>
          <p:nvPr/>
        </p:nvSpPr>
        <p:spPr>
          <a:xfrm>
            <a:off x="852340" y="1544798"/>
            <a:ext cx="1489435" cy="961535"/>
          </a:xfrm>
          <a:prstGeom prst="roundRect">
            <a:avLst/>
          </a:prstGeom>
          <a:solidFill>
            <a:srgbClr val="FFFF00"/>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zh-TW" altLang="en-US" sz="2800" b="1" dirty="0">
                <a:solidFill>
                  <a:schemeClr val="tx1"/>
                </a:solidFill>
              </a:rPr>
              <a:t>資料</a:t>
            </a:r>
          </a:p>
        </p:txBody>
      </p:sp>
      <p:sp>
        <p:nvSpPr>
          <p:cNvPr id="15" name="矩形: 圓角 14">
            <a:extLst>
              <a:ext uri="{FF2B5EF4-FFF2-40B4-BE49-F238E27FC236}">
                <a16:creationId xmlns:a16="http://schemas.microsoft.com/office/drawing/2014/main" id="{7CA3CFA9-61EE-4A3A-A7F7-7805EE50748E}"/>
              </a:ext>
            </a:extLst>
          </p:cNvPr>
          <p:cNvSpPr/>
          <p:nvPr/>
        </p:nvSpPr>
        <p:spPr>
          <a:xfrm>
            <a:off x="3465591" y="1556521"/>
            <a:ext cx="1489435" cy="961535"/>
          </a:xfrm>
          <a:prstGeom prst="roundRect">
            <a:avLst/>
          </a:prstGeom>
          <a:solidFill>
            <a:srgbClr val="FFFF00"/>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zh-TW" altLang="en-US" sz="2400" b="1" dirty="0">
                <a:solidFill>
                  <a:schemeClr val="tx1"/>
                </a:solidFill>
              </a:rPr>
              <a:t>訓練集</a:t>
            </a:r>
          </a:p>
        </p:txBody>
      </p:sp>
      <p:sp>
        <p:nvSpPr>
          <p:cNvPr id="16" name="矩形: 圓角 15">
            <a:extLst>
              <a:ext uri="{FF2B5EF4-FFF2-40B4-BE49-F238E27FC236}">
                <a16:creationId xmlns:a16="http://schemas.microsoft.com/office/drawing/2014/main" id="{B1D4ADEB-A9FB-4C79-AAE5-2766D9F01ECB}"/>
              </a:ext>
            </a:extLst>
          </p:cNvPr>
          <p:cNvSpPr/>
          <p:nvPr/>
        </p:nvSpPr>
        <p:spPr>
          <a:xfrm>
            <a:off x="1015338" y="4295240"/>
            <a:ext cx="1163435" cy="1810018"/>
          </a:xfrm>
          <a:prstGeom prst="roundRect">
            <a:avLst/>
          </a:prstGeom>
          <a:solidFill>
            <a:srgbClr val="FFFF00"/>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zh-TW" altLang="en-US" sz="2800" b="1" dirty="0">
                <a:solidFill>
                  <a:schemeClr val="tx1"/>
                </a:solidFill>
              </a:rPr>
              <a:t>測</a:t>
            </a:r>
            <a:endParaRPr lang="en-US" altLang="zh-TW" sz="2800" b="1" dirty="0">
              <a:solidFill>
                <a:schemeClr val="tx1"/>
              </a:solidFill>
            </a:endParaRPr>
          </a:p>
          <a:p>
            <a:pPr algn="ctr"/>
            <a:r>
              <a:rPr lang="zh-TW" altLang="en-US" sz="2800" b="1" dirty="0">
                <a:solidFill>
                  <a:schemeClr val="tx1"/>
                </a:solidFill>
              </a:rPr>
              <a:t>試</a:t>
            </a:r>
            <a:endParaRPr lang="en-US" altLang="zh-TW" sz="2800" b="1" dirty="0">
              <a:solidFill>
                <a:schemeClr val="tx1"/>
              </a:solidFill>
            </a:endParaRPr>
          </a:p>
          <a:p>
            <a:pPr algn="ctr"/>
            <a:r>
              <a:rPr lang="zh-TW" altLang="en-US" sz="2800" b="1" dirty="0">
                <a:solidFill>
                  <a:schemeClr val="tx1"/>
                </a:solidFill>
              </a:rPr>
              <a:t>集</a:t>
            </a:r>
          </a:p>
        </p:txBody>
      </p:sp>
      <p:sp>
        <p:nvSpPr>
          <p:cNvPr id="18" name="箭號: 向右 17">
            <a:extLst>
              <a:ext uri="{FF2B5EF4-FFF2-40B4-BE49-F238E27FC236}">
                <a16:creationId xmlns:a16="http://schemas.microsoft.com/office/drawing/2014/main" id="{2A077AA8-FC71-42C7-8AA8-B53076363B2B}"/>
              </a:ext>
            </a:extLst>
          </p:cNvPr>
          <p:cNvSpPr/>
          <p:nvPr/>
        </p:nvSpPr>
        <p:spPr>
          <a:xfrm>
            <a:off x="2345997" y="1736402"/>
            <a:ext cx="1101014" cy="610660"/>
          </a:xfrm>
          <a:prstGeom prst="rightArrow">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80%</a:t>
            </a:r>
            <a:endParaRPr lang="zh-TW" altLang="en-US" dirty="0">
              <a:solidFill>
                <a:schemeClr val="tx1"/>
              </a:solidFill>
            </a:endParaRPr>
          </a:p>
        </p:txBody>
      </p:sp>
      <p:sp>
        <p:nvSpPr>
          <p:cNvPr id="20" name="箭號: 向下 19">
            <a:extLst>
              <a:ext uri="{FF2B5EF4-FFF2-40B4-BE49-F238E27FC236}">
                <a16:creationId xmlns:a16="http://schemas.microsoft.com/office/drawing/2014/main" id="{02339A99-329B-4735-A29E-447F7AF3915C}"/>
              </a:ext>
            </a:extLst>
          </p:cNvPr>
          <p:cNvSpPr/>
          <p:nvPr/>
        </p:nvSpPr>
        <p:spPr>
          <a:xfrm>
            <a:off x="1122903" y="2518056"/>
            <a:ext cx="948307" cy="1777184"/>
          </a:xfrm>
          <a:prstGeom prst="downArrow">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a:solidFill>
                  <a:schemeClr val="tx1"/>
                </a:solidFill>
              </a:rPr>
              <a:t>20%</a:t>
            </a:r>
            <a:endParaRPr lang="zh-TW" altLang="en-US" dirty="0">
              <a:solidFill>
                <a:schemeClr val="tx1"/>
              </a:solidFill>
            </a:endParaRPr>
          </a:p>
        </p:txBody>
      </p:sp>
      <p:sp>
        <p:nvSpPr>
          <p:cNvPr id="21" name="矩形: 圓角 20">
            <a:extLst>
              <a:ext uri="{FF2B5EF4-FFF2-40B4-BE49-F238E27FC236}">
                <a16:creationId xmlns:a16="http://schemas.microsoft.com/office/drawing/2014/main" id="{AB68CCA5-966E-42B5-8318-7236DAA200AF}"/>
              </a:ext>
            </a:extLst>
          </p:cNvPr>
          <p:cNvSpPr/>
          <p:nvPr/>
        </p:nvSpPr>
        <p:spPr>
          <a:xfrm>
            <a:off x="5848557" y="1534172"/>
            <a:ext cx="1489435" cy="961535"/>
          </a:xfrm>
          <a:prstGeom prst="roundRect">
            <a:avLst/>
          </a:prstGeom>
          <a:solidFill>
            <a:srgbClr val="FFFF00"/>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zh-TW" altLang="en-US" sz="2400" b="1" dirty="0">
                <a:solidFill>
                  <a:schemeClr val="tx1"/>
                </a:solidFill>
              </a:rPr>
              <a:t>建模</a:t>
            </a:r>
          </a:p>
        </p:txBody>
      </p:sp>
      <p:sp>
        <p:nvSpPr>
          <p:cNvPr id="22" name="矩形: 圓角 21">
            <a:extLst>
              <a:ext uri="{FF2B5EF4-FFF2-40B4-BE49-F238E27FC236}">
                <a16:creationId xmlns:a16="http://schemas.microsoft.com/office/drawing/2014/main" id="{160E1EC8-D39F-4773-AB2A-180D9B17AD35}"/>
              </a:ext>
            </a:extLst>
          </p:cNvPr>
          <p:cNvSpPr/>
          <p:nvPr/>
        </p:nvSpPr>
        <p:spPr>
          <a:xfrm>
            <a:off x="8255540" y="1514118"/>
            <a:ext cx="1489435" cy="961535"/>
          </a:xfrm>
          <a:prstGeom prst="roundRect">
            <a:avLst/>
          </a:prstGeom>
          <a:solidFill>
            <a:srgbClr val="FFFF00"/>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zh-TW" altLang="en-US" sz="2400" b="1" dirty="0">
                <a:solidFill>
                  <a:schemeClr val="tx1"/>
                </a:solidFill>
              </a:rPr>
              <a:t>檢定</a:t>
            </a:r>
          </a:p>
        </p:txBody>
      </p:sp>
      <p:sp>
        <p:nvSpPr>
          <p:cNvPr id="23" name="矩形: 圓角 22">
            <a:extLst>
              <a:ext uri="{FF2B5EF4-FFF2-40B4-BE49-F238E27FC236}">
                <a16:creationId xmlns:a16="http://schemas.microsoft.com/office/drawing/2014/main" id="{62E1051B-95FA-46B0-8B5E-36B3CBA14A9D}"/>
              </a:ext>
            </a:extLst>
          </p:cNvPr>
          <p:cNvSpPr/>
          <p:nvPr/>
        </p:nvSpPr>
        <p:spPr>
          <a:xfrm>
            <a:off x="10232016" y="3050768"/>
            <a:ext cx="1489435" cy="961535"/>
          </a:xfrm>
          <a:prstGeom prst="roundRect">
            <a:avLst/>
          </a:prstGeom>
          <a:solidFill>
            <a:srgbClr val="FFFF00"/>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zh-TW" altLang="en-US" sz="2400" b="1" dirty="0">
                <a:solidFill>
                  <a:schemeClr val="tx1"/>
                </a:solidFill>
              </a:rPr>
              <a:t>轉換</a:t>
            </a:r>
          </a:p>
        </p:txBody>
      </p:sp>
      <p:sp>
        <p:nvSpPr>
          <p:cNvPr id="24" name="矩形: 圓角 23">
            <a:extLst>
              <a:ext uri="{FF2B5EF4-FFF2-40B4-BE49-F238E27FC236}">
                <a16:creationId xmlns:a16="http://schemas.microsoft.com/office/drawing/2014/main" id="{858C2546-E9C7-4A01-8A9B-0049E5CD8212}"/>
              </a:ext>
            </a:extLst>
          </p:cNvPr>
          <p:cNvSpPr/>
          <p:nvPr/>
        </p:nvSpPr>
        <p:spPr>
          <a:xfrm>
            <a:off x="8341169" y="4731484"/>
            <a:ext cx="1489435" cy="961535"/>
          </a:xfrm>
          <a:prstGeom prst="roundRect">
            <a:avLst/>
          </a:prstGeom>
          <a:solidFill>
            <a:srgbClr val="FFFF00"/>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zh-TW" altLang="en-US" sz="2400" b="1" dirty="0">
                <a:solidFill>
                  <a:schemeClr val="tx1"/>
                </a:solidFill>
              </a:rPr>
              <a:t>通過</a:t>
            </a:r>
          </a:p>
        </p:txBody>
      </p:sp>
      <p:sp>
        <p:nvSpPr>
          <p:cNvPr id="25" name="矩形: 圓角 24">
            <a:extLst>
              <a:ext uri="{FF2B5EF4-FFF2-40B4-BE49-F238E27FC236}">
                <a16:creationId xmlns:a16="http://schemas.microsoft.com/office/drawing/2014/main" id="{6FC2EB81-35DC-4E90-A64B-ECCD671F70C9}"/>
              </a:ext>
            </a:extLst>
          </p:cNvPr>
          <p:cNvSpPr/>
          <p:nvPr/>
        </p:nvSpPr>
        <p:spPr>
          <a:xfrm>
            <a:off x="5824995" y="4731484"/>
            <a:ext cx="1572705" cy="1032302"/>
          </a:xfrm>
          <a:prstGeom prst="roundRect">
            <a:avLst/>
          </a:prstGeom>
          <a:solidFill>
            <a:srgbClr val="FFFF00"/>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zh-TW" altLang="en-US" sz="2400" b="1" dirty="0">
                <a:solidFill>
                  <a:schemeClr val="tx1"/>
                </a:solidFill>
              </a:rPr>
              <a:t>模型選擇</a:t>
            </a:r>
          </a:p>
        </p:txBody>
      </p:sp>
      <p:sp>
        <p:nvSpPr>
          <p:cNvPr id="26" name="矩形: 圓角 25">
            <a:extLst>
              <a:ext uri="{FF2B5EF4-FFF2-40B4-BE49-F238E27FC236}">
                <a16:creationId xmlns:a16="http://schemas.microsoft.com/office/drawing/2014/main" id="{42B347D7-7C05-43D2-A14C-FCE686D9E016}"/>
              </a:ext>
            </a:extLst>
          </p:cNvPr>
          <p:cNvSpPr/>
          <p:nvPr/>
        </p:nvSpPr>
        <p:spPr>
          <a:xfrm>
            <a:off x="3795258" y="4295240"/>
            <a:ext cx="1018886" cy="1810018"/>
          </a:xfrm>
          <a:prstGeom prst="roundRect">
            <a:avLst/>
          </a:prstGeom>
          <a:solidFill>
            <a:srgbClr val="FFFF00"/>
          </a:solidFill>
          <a:ln>
            <a:solidFill>
              <a:schemeClr val="tx1"/>
            </a:solidFill>
          </a:ln>
        </p:spPr>
        <p:style>
          <a:lnRef idx="1">
            <a:schemeClr val="accent6"/>
          </a:lnRef>
          <a:fillRef idx="2">
            <a:schemeClr val="accent6"/>
          </a:fillRef>
          <a:effectRef idx="1">
            <a:schemeClr val="accent6"/>
          </a:effectRef>
          <a:fontRef idx="minor">
            <a:schemeClr val="dk1"/>
          </a:fontRef>
        </p:style>
        <p:txBody>
          <a:bodyPr rtlCol="0" anchor="ctr"/>
          <a:lstStyle/>
          <a:p>
            <a:pPr algn="ctr"/>
            <a:r>
              <a:rPr lang="zh-TW" altLang="en-US" sz="2400" b="1" dirty="0">
                <a:solidFill>
                  <a:schemeClr val="tx1"/>
                </a:solidFill>
              </a:rPr>
              <a:t>最</a:t>
            </a:r>
            <a:endParaRPr lang="en-US" altLang="zh-TW" sz="2400" b="1" dirty="0">
              <a:solidFill>
                <a:schemeClr val="tx1"/>
              </a:solidFill>
            </a:endParaRPr>
          </a:p>
          <a:p>
            <a:pPr algn="ctr"/>
            <a:r>
              <a:rPr lang="zh-TW" altLang="en-US" sz="2400" b="1" dirty="0">
                <a:solidFill>
                  <a:schemeClr val="tx1"/>
                </a:solidFill>
              </a:rPr>
              <a:t>終</a:t>
            </a:r>
            <a:endParaRPr lang="en-US" altLang="zh-TW" sz="2400" b="1" dirty="0">
              <a:solidFill>
                <a:schemeClr val="tx1"/>
              </a:solidFill>
            </a:endParaRPr>
          </a:p>
          <a:p>
            <a:pPr algn="ctr"/>
            <a:r>
              <a:rPr lang="zh-TW" altLang="en-US" sz="2400" b="1" dirty="0">
                <a:solidFill>
                  <a:schemeClr val="tx1"/>
                </a:solidFill>
              </a:rPr>
              <a:t>模</a:t>
            </a:r>
            <a:endParaRPr lang="en-US" altLang="zh-TW" sz="2400" b="1" dirty="0">
              <a:solidFill>
                <a:schemeClr val="tx1"/>
              </a:solidFill>
            </a:endParaRPr>
          </a:p>
          <a:p>
            <a:pPr algn="ctr"/>
            <a:r>
              <a:rPr lang="zh-TW" altLang="en-US" sz="2400" b="1" dirty="0">
                <a:solidFill>
                  <a:schemeClr val="tx1"/>
                </a:solidFill>
              </a:rPr>
              <a:t>型</a:t>
            </a:r>
          </a:p>
        </p:txBody>
      </p:sp>
      <p:sp>
        <p:nvSpPr>
          <p:cNvPr id="27" name="箭號: 彎曲 26">
            <a:extLst>
              <a:ext uri="{FF2B5EF4-FFF2-40B4-BE49-F238E27FC236}">
                <a16:creationId xmlns:a16="http://schemas.microsoft.com/office/drawing/2014/main" id="{5690A108-8690-4EAA-B1BD-66EE102F0F7C}"/>
              </a:ext>
            </a:extLst>
          </p:cNvPr>
          <p:cNvSpPr/>
          <p:nvPr/>
        </p:nvSpPr>
        <p:spPr>
          <a:xfrm rot="5400000">
            <a:off x="9909955" y="1693316"/>
            <a:ext cx="1205847" cy="1509056"/>
          </a:xfrm>
          <a:prstGeom prst="bentArrow">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solidFill>
                <a:schemeClr val="tx1"/>
              </a:solidFill>
            </a:endParaRPr>
          </a:p>
        </p:txBody>
      </p:sp>
      <p:sp>
        <p:nvSpPr>
          <p:cNvPr id="28" name="箭號: 彎曲 27">
            <a:extLst>
              <a:ext uri="{FF2B5EF4-FFF2-40B4-BE49-F238E27FC236}">
                <a16:creationId xmlns:a16="http://schemas.microsoft.com/office/drawing/2014/main" id="{BC92E2D5-FAA1-4CED-BAED-EC101D5C96FF}"/>
              </a:ext>
            </a:extLst>
          </p:cNvPr>
          <p:cNvSpPr/>
          <p:nvPr/>
        </p:nvSpPr>
        <p:spPr>
          <a:xfrm rot="10800000">
            <a:off x="9870631" y="4023570"/>
            <a:ext cx="1322199" cy="1552339"/>
          </a:xfrm>
          <a:prstGeom prst="bentArrow">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tx1"/>
              </a:solidFill>
            </a:endParaRPr>
          </a:p>
        </p:txBody>
      </p:sp>
      <p:sp>
        <p:nvSpPr>
          <p:cNvPr id="29" name="箭號: 向下 28">
            <a:extLst>
              <a:ext uri="{FF2B5EF4-FFF2-40B4-BE49-F238E27FC236}">
                <a16:creationId xmlns:a16="http://schemas.microsoft.com/office/drawing/2014/main" id="{8BD7CF06-6389-4B7E-9DDB-D593E48EBA57}"/>
              </a:ext>
            </a:extLst>
          </p:cNvPr>
          <p:cNvSpPr/>
          <p:nvPr/>
        </p:nvSpPr>
        <p:spPr>
          <a:xfrm>
            <a:off x="8812560" y="2480348"/>
            <a:ext cx="480767" cy="2213428"/>
          </a:xfrm>
          <a:prstGeom prst="downArrow">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0" name="箭號: 向右 29">
            <a:extLst>
              <a:ext uri="{FF2B5EF4-FFF2-40B4-BE49-F238E27FC236}">
                <a16:creationId xmlns:a16="http://schemas.microsoft.com/office/drawing/2014/main" id="{9DCF556C-C2FF-44DF-B49D-64DB0783F8CA}"/>
              </a:ext>
            </a:extLst>
          </p:cNvPr>
          <p:cNvSpPr/>
          <p:nvPr/>
        </p:nvSpPr>
        <p:spPr>
          <a:xfrm>
            <a:off x="4968047" y="1768624"/>
            <a:ext cx="848412" cy="537328"/>
          </a:xfrm>
          <a:prstGeom prst="rightArrow">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1" name="箭號: 向右 30">
            <a:extLst>
              <a:ext uri="{FF2B5EF4-FFF2-40B4-BE49-F238E27FC236}">
                <a16:creationId xmlns:a16="http://schemas.microsoft.com/office/drawing/2014/main" id="{AC076033-308B-4EE9-8BA0-CC29259F5957}"/>
              </a:ext>
            </a:extLst>
          </p:cNvPr>
          <p:cNvSpPr/>
          <p:nvPr/>
        </p:nvSpPr>
        <p:spPr>
          <a:xfrm>
            <a:off x="7351235" y="1736402"/>
            <a:ext cx="894573" cy="537328"/>
          </a:xfrm>
          <a:prstGeom prst="rightArrow">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2" name="箭號: 向右 31">
            <a:extLst>
              <a:ext uri="{FF2B5EF4-FFF2-40B4-BE49-F238E27FC236}">
                <a16:creationId xmlns:a16="http://schemas.microsoft.com/office/drawing/2014/main" id="{E1EBA7DE-CCDE-46DF-AB08-68C64A0879AD}"/>
              </a:ext>
            </a:extLst>
          </p:cNvPr>
          <p:cNvSpPr/>
          <p:nvPr/>
        </p:nvSpPr>
        <p:spPr>
          <a:xfrm rot="10800000">
            <a:off x="7397699" y="5048008"/>
            <a:ext cx="943469" cy="537328"/>
          </a:xfrm>
          <a:prstGeom prst="rightArrow">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3" name="箭號: 向右 32">
            <a:extLst>
              <a:ext uri="{FF2B5EF4-FFF2-40B4-BE49-F238E27FC236}">
                <a16:creationId xmlns:a16="http://schemas.microsoft.com/office/drawing/2014/main" id="{F5F80833-9BCF-4C16-9415-C1468DDF431E}"/>
              </a:ext>
            </a:extLst>
          </p:cNvPr>
          <p:cNvSpPr/>
          <p:nvPr/>
        </p:nvSpPr>
        <p:spPr>
          <a:xfrm rot="10800000">
            <a:off x="4814143" y="5048008"/>
            <a:ext cx="1010849" cy="537328"/>
          </a:xfrm>
          <a:prstGeom prst="rightArrow">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35" name="箭號: 向左 34">
            <a:extLst>
              <a:ext uri="{FF2B5EF4-FFF2-40B4-BE49-F238E27FC236}">
                <a16:creationId xmlns:a16="http://schemas.microsoft.com/office/drawing/2014/main" id="{D47BDD59-35C4-4AE0-86D5-B19710AF6B85}"/>
              </a:ext>
            </a:extLst>
          </p:cNvPr>
          <p:cNvSpPr/>
          <p:nvPr/>
        </p:nvSpPr>
        <p:spPr>
          <a:xfrm>
            <a:off x="2218802" y="4940326"/>
            <a:ext cx="1584492" cy="752693"/>
          </a:xfrm>
          <a:prstGeom prst="leftArrow">
            <a:avLst>
              <a:gd name="adj1" fmla="val 50000"/>
              <a:gd name="adj2" fmla="val 50000"/>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400" b="1" dirty="0">
                <a:solidFill>
                  <a:schemeClr val="tx1"/>
                </a:solidFill>
              </a:rPr>
              <a:t>預測</a:t>
            </a:r>
          </a:p>
        </p:txBody>
      </p:sp>
      <p:sp>
        <p:nvSpPr>
          <p:cNvPr id="5" name="投影片編號版面配置區 4">
            <a:extLst>
              <a:ext uri="{FF2B5EF4-FFF2-40B4-BE49-F238E27FC236}">
                <a16:creationId xmlns:a16="http://schemas.microsoft.com/office/drawing/2014/main" id="{62A5D152-CA56-412D-A858-B5E05884A3C3}"/>
              </a:ext>
            </a:extLst>
          </p:cNvPr>
          <p:cNvSpPr>
            <a:spLocks noGrp="1"/>
          </p:cNvSpPr>
          <p:nvPr>
            <p:ph type="sldNum" sz="quarter" idx="12"/>
          </p:nvPr>
        </p:nvSpPr>
        <p:spPr/>
        <p:txBody>
          <a:bodyPr/>
          <a:lstStyle/>
          <a:p>
            <a:r>
              <a:rPr lang="en-US" altLang="zh-TW" sz="2200" b="1" i="1" dirty="0"/>
              <a:t>5</a:t>
            </a:r>
            <a:endParaRPr lang="en-US" sz="2200" b="1" i="1" dirty="0"/>
          </a:p>
        </p:txBody>
      </p:sp>
    </p:spTree>
    <p:extLst>
      <p:ext uri="{BB962C8B-B14F-4D97-AF65-F5344CB8AC3E}">
        <p14:creationId xmlns:p14="http://schemas.microsoft.com/office/powerpoint/2010/main" val="7519624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A7291D2A-E150-4C89-8D28-BF8B206D065E}"/>
              </a:ext>
            </a:extLst>
          </p:cNvPr>
          <p:cNvSpPr txBox="1"/>
          <p:nvPr/>
        </p:nvSpPr>
        <p:spPr>
          <a:xfrm>
            <a:off x="3706303" y="59475"/>
            <a:ext cx="4590854" cy="707886"/>
          </a:xfrm>
          <a:prstGeom prst="rect">
            <a:avLst/>
          </a:prstGeom>
          <a:noFill/>
        </p:spPr>
        <p:txBody>
          <a:bodyPr wrap="square" rtlCol="0">
            <a:spAutoFit/>
          </a:bodyPr>
          <a:lstStyle/>
          <a:p>
            <a:pPr algn="ctr"/>
            <a:r>
              <a:rPr lang="en-US" altLang="zh-TW" sz="4000" b="1" dirty="0"/>
              <a:t>(</a:t>
            </a:r>
            <a:r>
              <a:rPr lang="zh-TW" altLang="en-US" sz="4000" b="1" dirty="0"/>
              <a:t>三</a:t>
            </a:r>
            <a:r>
              <a:rPr lang="en-US" altLang="zh-TW" sz="4000" b="1" dirty="0"/>
              <a:t>)</a:t>
            </a:r>
            <a:r>
              <a:rPr lang="zh-TW" altLang="en-US" sz="4000" b="1" dirty="0"/>
              <a:t>變數介紹</a:t>
            </a:r>
          </a:p>
        </p:txBody>
      </p:sp>
      <p:sp>
        <p:nvSpPr>
          <p:cNvPr id="3" name="文字方塊 2">
            <a:extLst>
              <a:ext uri="{FF2B5EF4-FFF2-40B4-BE49-F238E27FC236}">
                <a16:creationId xmlns:a16="http://schemas.microsoft.com/office/drawing/2014/main" id="{20D16ED5-F181-45F8-9E7F-1EF1FC749150}"/>
              </a:ext>
            </a:extLst>
          </p:cNvPr>
          <p:cNvSpPr txBox="1"/>
          <p:nvPr/>
        </p:nvSpPr>
        <p:spPr>
          <a:xfrm>
            <a:off x="1542851" y="1501774"/>
            <a:ext cx="9106293" cy="4893647"/>
          </a:xfrm>
          <a:prstGeom prst="rect">
            <a:avLst/>
          </a:prstGeom>
          <a:noFill/>
        </p:spPr>
        <p:txBody>
          <a:bodyPr wrap="square" rtlCol="0">
            <a:spAutoFit/>
          </a:bodyPr>
          <a:lstStyle/>
          <a:p>
            <a:r>
              <a:rPr lang="zh-TW" altLang="zh-TW" sz="3200" dirty="0"/>
              <a:t>Y</a:t>
            </a:r>
            <a:r>
              <a:rPr lang="en-US" altLang="zh-TW" sz="3200" dirty="0"/>
              <a:t>=price(</a:t>
            </a:r>
            <a:r>
              <a:rPr lang="zh-TW" altLang="en-US" sz="3200" dirty="0"/>
              <a:t>房價</a:t>
            </a:r>
            <a:r>
              <a:rPr lang="en-US" altLang="zh-TW" sz="3200" dirty="0"/>
              <a:t>)---------------------</a:t>
            </a:r>
            <a:r>
              <a:rPr lang="zh-TW" altLang="en-US" sz="3200" dirty="0"/>
              <a:t>單位</a:t>
            </a:r>
            <a:r>
              <a:rPr lang="en-US" altLang="zh-TW" sz="3200" dirty="0"/>
              <a:t>:</a:t>
            </a:r>
            <a:r>
              <a:rPr lang="zh-TW" altLang="en-US" sz="3200" dirty="0"/>
              <a:t>美金</a:t>
            </a:r>
            <a:endParaRPr lang="zh-TW" altLang="zh-TW" sz="3200" dirty="0"/>
          </a:p>
          <a:p>
            <a:r>
              <a:rPr lang="zh-TW" altLang="zh-TW" sz="3200" dirty="0"/>
              <a:t>X1=</a:t>
            </a:r>
            <a:r>
              <a:rPr lang="en-US" altLang="zh-TW" sz="3200" dirty="0"/>
              <a:t>area(</a:t>
            </a:r>
            <a:r>
              <a:rPr lang="zh-TW" altLang="en-US" sz="3200" dirty="0"/>
              <a:t>面積</a:t>
            </a:r>
            <a:r>
              <a:rPr lang="en-US" altLang="zh-TW" sz="3200" dirty="0"/>
              <a:t>)-------------------</a:t>
            </a:r>
            <a:r>
              <a:rPr lang="zh-TW" altLang="en-US" sz="3200" dirty="0"/>
              <a:t>單位</a:t>
            </a:r>
            <a:r>
              <a:rPr lang="en-US" altLang="zh-TW" sz="3200" dirty="0"/>
              <a:t>:</a:t>
            </a:r>
            <a:r>
              <a:rPr lang="zh-TW" altLang="en-US" sz="3200" dirty="0"/>
              <a:t>平方英尺</a:t>
            </a:r>
            <a:endParaRPr lang="zh-TW" altLang="zh-TW" sz="3200" dirty="0"/>
          </a:p>
          <a:p>
            <a:r>
              <a:rPr lang="zh-TW" altLang="zh-TW" sz="3200" dirty="0"/>
              <a:t>X2=</a:t>
            </a:r>
            <a:r>
              <a:rPr lang="en-US" altLang="zh-TW" sz="3200" dirty="0"/>
              <a:t>bedrooms(</a:t>
            </a:r>
            <a:r>
              <a:rPr lang="zh-TW" altLang="en-US" sz="3200" dirty="0"/>
              <a:t>臥室數量</a:t>
            </a:r>
            <a:r>
              <a:rPr lang="en-US" altLang="zh-TW" sz="3200" dirty="0"/>
              <a:t>)</a:t>
            </a:r>
          </a:p>
          <a:p>
            <a:r>
              <a:rPr lang="zh-TW" altLang="zh-TW" sz="3200" dirty="0"/>
              <a:t>X3=</a:t>
            </a:r>
            <a:r>
              <a:rPr lang="en-US" altLang="zh-TW" sz="3200" dirty="0"/>
              <a:t>bathrooms(</a:t>
            </a:r>
            <a:r>
              <a:rPr lang="zh-TW" altLang="en-US" sz="3200" dirty="0"/>
              <a:t>浴室數量</a:t>
            </a:r>
            <a:r>
              <a:rPr lang="en-US" altLang="zh-TW" sz="3200" dirty="0"/>
              <a:t>)</a:t>
            </a:r>
            <a:endParaRPr lang="zh-TW" altLang="zh-TW" sz="3200" dirty="0"/>
          </a:p>
          <a:p>
            <a:r>
              <a:rPr lang="zh-TW" altLang="zh-TW" sz="3200" dirty="0"/>
              <a:t>X4=</a:t>
            </a:r>
            <a:r>
              <a:rPr lang="en-US" altLang="zh-TW" sz="3200" dirty="0"/>
              <a:t>stories(</a:t>
            </a:r>
            <a:r>
              <a:rPr lang="zh-TW" altLang="en-US" sz="3200" dirty="0"/>
              <a:t>樓層數量</a:t>
            </a:r>
            <a:r>
              <a:rPr lang="en-US" altLang="zh-TW" sz="3200" dirty="0"/>
              <a:t>)</a:t>
            </a:r>
          </a:p>
          <a:p>
            <a:r>
              <a:rPr lang="zh-TW" altLang="zh-TW" sz="3200" dirty="0"/>
              <a:t>X</a:t>
            </a:r>
            <a:r>
              <a:rPr lang="en-US" altLang="zh-TW" sz="3200" dirty="0"/>
              <a:t>5</a:t>
            </a:r>
            <a:r>
              <a:rPr lang="zh-TW" altLang="zh-TW" sz="3200" dirty="0"/>
              <a:t>=</a:t>
            </a:r>
            <a:r>
              <a:rPr lang="en-US" altLang="zh-TW" sz="3200" dirty="0"/>
              <a:t>parking(</a:t>
            </a:r>
            <a:r>
              <a:rPr lang="zh-TW" altLang="en-US" sz="3200" dirty="0"/>
              <a:t>停車位數量</a:t>
            </a:r>
            <a:r>
              <a:rPr lang="en-US" altLang="zh-TW" sz="3200" dirty="0"/>
              <a:t>)</a:t>
            </a:r>
          </a:p>
          <a:p>
            <a:r>
              <a:rPr lang="en-US" altLang="zh-TW" sz="3200" b="1" dirty="0"/>
              <a:t>-----------------------</a:t>
            </a:r>
            <a:r>
              <a:rPr lang="en-US" altLang="zh-TW" sz="3200" b="1" dirty="0" err="1"/>
              <a:t>Dummy_variable</a:t>
            </a:r>
            <a:r>
              <a:rPr lang="en-US" altLang="zh-TW" sz="3200" b="1" dirty="0"/>
              <a:t>------------------------</a:t>
            </a:r>
            <a:endParaRPr lang="zh-TW" altLang="zh-TW" sz="3200" dirty="0"/>
          </a:p>
          <a:p>
            <a:r>
              <a:rPr lang="zh-TW" altLang="zh-TW" sz="3200" dirty="0"/>
              <a:t>X</a:t>
            </a:r>
            <a:r>
              <a:rPr lang="en-US" altLang="zh-TW" sz="3200" dirty="0"/>
              <a:t>6=</a:t>
            </a:r>
            <a:r>
              <a:rPr lang="en-US" altLang="zh-TW" sz="3200" dirty="0" err="1"/>
              <a:t>mainroad</a:t>
            </a:r>
            <a:r>
              <a:rPr lang="en-US" altLang="zh-TW" sz="3200" dirty="0"/>
              <a:t>(</a:t>
            </a:r>
            <a:r>
              <a:rPr lang="zh-TW" altLang="en-US" sz="3200" dirty="0"/>
              <a:t>主要道路</a:t>
            </a:r>
            <a:r>
              <a:rPr lang="en-US" altLang="zh-TW" sz="3200" dirty="0"/>
              <a:t>)--------(1:</a:t>
            </a:r>
            <a:r>
              <a:rPr lang="zh-TW" altLang="en-US" sz="3200" dirty="0"/>
              <a:t>在主要道路</a:t>
            </a:r>
            <a:r>
              <a:rPr lang="en-US" altLang="zh-TW" sz="3200" dirty="0"/>
              <a:t>,0:</a:t>
            </a:r>
            <a:r>
              <a:rPr lang="zh-TW" altLang="en-US" sz="3200" dirty="0"/>
              <a:t>沒有</a:t>
            </a:r>
            <a:r>
              <a:rPr lang="en-US" altLang="zh-TW" sz="3200" dirty="0"/>
              <a:t>)</a:t>
            </a:r>
            <a:endParaRPr lang="zh-TW" altLang="zh-TW" sz="3200" dirty="0"/>
          </a:p>
          <a:p>
            <a:r>
              <a:rPr lang="zh-TW" altLang="zh-TW" sz="3200" dirty="0"/>
              <a:t>X</a:t>
            </a:r>
            <a:r>
              <a:rPr lang="en-US" altLang="zh-TW" sz="3200" dirty="0"/>
              <a:t>7</a:t>
            </a:r>
            <a:r>
              <a:rPr lang="zh-TW" altLang="zh-TW" sz="3200" dirty="0"/>
              <a:t>=</a:t>
            </a:r>
            <a:r>
              <a:rPr lang="en-US" altLang="zh-TW" sz="3200" dirty="0"/>
              <a:t>guestroom(</a:t>
            </a:r>
            <a:r>
              <a:rPr lang="zh-TW" altLang="en-US" sz="3200" dirty="0"/>
              <a:t>客房</a:t>
            </a:r>
            <a:r>
              <a:rPr lang="en-US" altLang="zh-TW" sz="3200" dirty="0"/>
              <a:t>)-------------(1:</a:t>
            </a:r>
            <a:r>
              <a:rPr lang="zh-TW" altLang="en-US" sz="3200" dirty="0"/>
              <a:t>有</a:t>
            </a:r>
            <a:r>
              <a:rPr lang="en-US" altLang="zh-TW" sz="3200" dirty="0"/>
              <a:t> , 0:</a:t>
            </a:r>
            <a:r>
              <a:rPr lang="zh-TW" altLang="en-US" sz="3200" dirty="0"/>
              <a:t>沒有</a:t>
            </a:r>
            <a:r>
              <a:rPr lang="en-US" altLang="zh-TW" sz="3200" dirty="0"/>
              <a:t>)</a:t>
            </a:r>
            <a:endParaRPr lang="zh-TW" altLang="zh-TW" sz="3200" dirty="0"/>
          </a:p>
          <a:p>
            <a:endParaRPr lang="zh-TW" altLang="zh-TW" sz="2400" dirty="0"/>
          </a:p>
        </p:txBody>
      </p:sp>
      <p:sp>
        <p:nvSpPr>
          <p:cNvPr id="6" name="投影片編號版面配置區 5">
            <a:extLst>
              <a:ext uri="{FF2B5EF4-FFF2-40B4-BE49-F238E27FC236}">
                <a16:creationId xmlns:a16="http://schemas.microsoft.com/office/drawing/2014/main" id="{220E9D77-927B-4ED0-9E84-5E530A1897CA}"/>
              </a:ext>
            </a:extLst>
          </p:cNvPr>
          <p:cNvSpPr>
            <a:spLocks noGrp="1"/>
          </p:cNvSpPr>
          <p:nvPr>
            <p:ph type="sldNum" sz="quarter" idx="12"/>
          </p:nvPr>
        </p:nvSpPr>
        <p:spPr/>
        <p:txBody>
          <a:bodyPr/>
          <a:lstStyle/>
          <a:p>
            <a:r>
              <a:rPr lang="en-US" altLang="zh-TW" sz="2200" b="1" i="1" dirty="0"/>
              <a:t>6</a:t>
            </a:r>
            <a:endParaRPr lang="en-US" sz="2200" b="1" i="1" dirty="0"/>
          </a:p>
        </p:txBody>
      </p:sp>
    </p:spTree>
    <p:extLst>
      <p:ext uri="{BB962C8B-B14F-4D97-AF65-F5344CB8AC3E}">
        <p14:creationId xmlns:p14="http://schemas.microsoft.com/office/powerpoint/2010/main" val="23022100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71773770-DC1F-4725-B24D-E79D6F2FA34F}"/>
              </a:ext>
            </a:extLst>
          </p:cNvPr>
          <p:cNvSpPr/>
          <p:nvPr/>
        </p:nvSpPr>
        <p:spPr>
          <a:xfrm>
            <a:off x="1338606" y="825608"/>
            <a:ext cx="10105533" cy="5016758"/>
          </a:xfrm>
          <a:prstGeom prst="rect">
            <a:avLst/>
          </a:prstGeom>
        </p:spPr>
        <p:txBody>
          <a:bodyPr wrap="square">
            <a:spAutoFit/>
          </a:bodyPr>
          <a:lstStyle/>
          <a:p>
            <a:r>
              <a:rPr lang="en-US" altLang="zh-TW" sz="3200" b="1" dirty="0"/>
              <a:t>-----------------------</a:t>
            </a:r>
            <a:r>
              <a:rPr lang="en-US" altLang="zh-TW" sz="3200" b="1" dirty="0" err="1"/>
              <a:t>Dummy_variable</a:t>
            </a:r>
            <a:r>
              <a:rPr lang="en-US" altLang="zh-TW" sz="3200" b="1" dirty="0"/>
              <a:t>--------------------------------</a:t>
            </a:r>
            <a:endParaRPr lang="en-US" altLang="zh-TW" sz="3200" dirty="0"/>
          </a:p>
          <a:p>
            <a:r>
              <a:rPr lang="zh-TW" altLang="zh-TW" sz="3200" dirty="0"/>
              <a:t>X</a:t>
            </a:r>
            <a:r>
              <a:rPr lang="en-US" altLang="zh-TW" sz="3200" dirty="0"/>
              <a:t>8</a:t>
            </a:r>
            <a:r>
              <a:rPr lang="zh-TW" altLang="zh-TW" sz="3200" dirty="0"/>
              <a:t>=</a:t>
            </a:r>
            <a:r>
              <a:rPr lang="en-US" altLang="zh-TW" sz="3200" dirty="0"/>
              <a:t>basement(</a:t>
            </a:r>
            <a:r>
              <a:rPr lang="zh-TW" altLang="en-US" sz="3200" dirty="0"/>
              <a:t>地下室</a:t>
            </a:r>
            <a:r>
              <a:rPr lang="en-US" altLang="zh-TW" sz="3200" dirty="0"/>
              <a:t>)--------------(1:</a:t>
            </a:r>
            <a:r>
              <a:rPr lang="zh-TW" altLang="en-US" sz="3200" dirty="0"/>
              <a:t>有</a:t>
            </a:r>
            <a:r>
              <a:rPr lang="en-US" altLang="zh-TW" sz="3200" dirty="0"/>
              <a:t> , 0:</a:t>
            </a:r>
            <a:r>
              <a:rPr lang="zh-TW" altLang="en-US" sz="3200" dirty="0"/>
              <a:t>沒有</a:t>
            </a:r>
            <a:r>
              <a:rPr lang="en-US" altLang="zh-TW" sz="3200" dirty="0"/>
              <a:t>)</a:t>
            </a:r>
          </a:p>
          <a:p>
            <a:r>
              <a:rPr lang="zh-TW" altLang="zh-TW" sz="3200" dirty="0"/>
              <a:t>X</a:t>
            </a:r>
            <a:r>
              <a:rPr lang="en-US" altLang="zh-TW" sz="3200" dirty="0"/>
              <a:t>9</a:t>
            </a:r>
            <a:r>
              <a:rPr lang="zh-TW" altLang="zh-TW" sz="3200" dirty="0"/>
              <a:t>=</a:t>
            </a:r>
            <a:r>
              <a:rPr lang="en-US" altLang="zh-TW" sz="3200" dirty="0" err="1"/>
              <a:t>hotwaterhearting</a:t>
            </a:r>
            <a:r>
              <a:rPr lang="en-US" altLang="zh-TW" sz="3200" dirty="0"/>
              <a:t>(</a:t>
            </a:r>
            <a:r>
              <a:rPr lang="zh-TW" altLang="en-US" sz="3200" dirty="0"/>
              <a:t>熱水器</a:t>
            </a:r>
            <a:r>
              <a:rPr lang="en-US" altLang="zh-TW" sz="3200" dirty="0"/>
              <a:t>)-----(1:</a:t>
            </a:r>
            <a:r>
              <a:rPr lang="zh-TW" altLang="en-US" sz="3200" dirty="0"/>
              <a:t>有</a:t>
            </a:r>
            <a:r>
              <a:rPr lang="en-US" altLang="zh-TW" sz="3200" dirty="0"/>
              <a:t> , 0:</a:t>
            </a:r>
            <a:r>
              <a:rPr lang="zh-TW" altLang="en-US" sz="3200" dirty="0"/>
              <a:t>沒有</a:t>
            </a:r>
            <a:r>
              <a:rPr lang="en-US" altLang="zh-TW" sz="3200" dirty="0"/>
              <a:t>)</a:t>
            </a:r>
          </a:p>
          <a:p>
            <a:r>
              <a:rPr lang="zh-TW" altLang="zh-TW" sz="3200" dirty="0"/>
              <a:t>X</a:t>
            </a:r>
            <a:r>
              <a:rPr lang="en-US" altLang="zh-TW" sz="3200" dirty="0"/>
              <a:t>10</a:t>
            </a:r>
            <a:r>
              <a:rPr lang="zh-TW" altLang="zh-TW" sz="3200" dirty="0"/>
              <a:t>=</a:t>
            </a:r>
            <a:r>
              <a:rPr lang="en-US" altLang="zh-TW" sz="3200" dirty="0" err="1"/>
              <a:t>airconditioning</a:t>
            </a:r>
            <a:r>
              <a:rPr lang="en-US" altLang="zh-TW" sz="3200" dirty="0"/>
              <a:t>(</a:t>
            </a:r>
            <a:r>
              <a:rPr lang="zh-TW" altLang="en-US" sz="3200" dirty="0"/>
              <a:t>空調</a:t>
            </a:r>
            <a:r>
              <a:rPr lang="en-US" altLang="zh-TW" sz="3200" dirty="0"/>
              <a:t>)---------(1:</a:t>
            </a:r>
            <a:r>
              <a:rPr lang="zh-TW" altLang="en-US" sz="3200" dirty="0"/>
              <a:t>有</a:t>
            </a:r>
            <a:r>
              <a:rPr lang="en-US" altLang="zh-TW" sz="3200" dirty="0"/>
              <a:t> , 0:</a:t>
            </a:r>
            <a:r>
              <a:rPr lang="zh-TW" altLang="en-US" sz="3200" dirty="0"/>
              <a:t>沒有</a:t>
            </a:r>
            <a:r>
              <a:rPr lang="en-US" altLang="zh-TW" sz="3200" dirty="0"/>
              <a:t>)</a:t>
            </a:r>
          </a:p>
          <a:p>
            <a:r>
              <a:rPr lang="zh-TW" altLang="zh-TW" sz="3200" dirty="0">
                <a:highlight>
                  <a:srgbClr val="FFFF00"/>
                </a:highlight>
              </a:rPr>
              <a:t>X</a:t>
            </a:r>
            <a:r>
              <a:rPr lang="en-US" altLang="zh-TW" sz="3200" dirty="0">
                <a:highlight>
                  <a:srgbClr val="FFFF00"/>
                </a:highlight>
              </a:rPr>
              <a:t>11</a:t>
            </a:r>
            <a:r>
              <a:rPr lang="zh-TW" altLang="zh-TW" sz="3200" dirty="0">
                <a:highlight>
                  <a:srgbClr val="FFFF00"/>
                </a:highlight>
              </a:rPr>
              <a:t>=</a:t>
            </a:r>
            <a:r>
              <a:rPr lang="en-US" altLang="zh-TW" sz="3200" dirty="0" err="1">
                <a:highlight>
                  <a:srgbClr val="FFFF00"/>
                </a:highlight>
              </a:rPr>
              <a:t>semi_furnished</a:t>
            </a:r>
            <a:r>
              <a:rPr lang="en-US" altLang="zh-TW" sz="3200" dirty="0">
                <a:highlight>
                  <a:srgbClr val="FFFF00"/>
                </a:highlight>
              </a:rPr>
              <a:t>(</a:t>
            </a:r>
            <a:r>
              <a:rPr lang="zh-TW" altLang="en-US" sz="3200" dirty="0">
                <a:highlight>
                  <a:srgbClr val="FFFF00"/>
                </a:highlight>
              </a:rPr>
              <a:t>家俱</a:t>
            </a:r>
            <a:r>
              <a:rPr lang="en-US" altLang="zh-TW" sz="3200" dirty="0">
                <a:highlight>
                  <a:srgbClr val="FFFF00"/>
                </a:highlight>
              </a:rPr>
              <a:t>)</a:t>
            </a:r>
          </a:p>
          <a:p>
            <a:r>
              <a:rPr lang="en-US" altLang="zh-TW" sz="3200" dirty="0">
                <a:highlight>
                  <a:srgbClr val="FFFF00"/>
                </a:highlight>
              </a:rPr>
              <a:t>X12=furnished(</a:t>
            </a:r>
            <a:r>
              <a:rPr lang="zh-TW" altLang="en-US" sz="3200" dirty="0">
                <a:highlight>
                  <a:srgbClr val="FFFF00"/>
                </a:highlight>
              </a:rPr>
              <a:t>家俱</a:t>
            </a:r>
            <a:r>
              <a:rPr lang="en-US" altLang="zh-TW" sz="3200" dirty="0">
                <a:highlight>
                  <a:srgbClr val="FFFF00"/>
                </a:highlight>
              </a:rPr>
              <a:t>)</a:t>
            </a:r>
          </a:p>
          <a:p>
            <a:r>
              <a:rPr lang="zh-TW" altLang="en-US" sz="3200" dirty="0"/>
              <a:t>註</a:t>
            </a:r>
            <a:r>
              <a:rPr lang="en-US" altLang="zh-TW" sz="3200" dirty="0"/>
              <a:t>:</a:t>
            </a:r>
            <a:r>
              <a:rPr lang="zh-TW" altLang="en-US" sz="3200" dirty="0"/>
              <a:t> </a:t>
            </a:r>
            <a:endParaRPr lang="en-US" altLang="zh-TW" sz="3200" dirty="0"/>
          </a:p>
          <a:p>
            <a:r>
              <a:rPr lang="en-US" altLang="zh-TW" sz="3200" dirty="0"/>
              <a:t>(x11=1,x12=0):</a:t>
            </a:r>
            <a:r>
              <a:rPr lang="zh-TW" altLang="en-US" sz="3200" dirty="0"/>
              <a:t>配備一半家俱</a:t>
            </a:r>
            <a:endParaRPr lang="en-US" altLang="zh-TW" sz="3200" dirty="0"/>
          </a:p>
          <a:p>
            <a:r>
              <a:rPr lang="en-US" altLang="zh-TW" sz="3200" dirty="0"/>
              <a:t>(x11=0,x12=1):</a:t>
            </a:r>
            <a:r>
              <a:rPr lang="zh-TW" altLang="en-US" sz="3200" dirty="0"/>
              <a:t>配備全部家俱</a:t>
            </a:r>
            <a:endParaRPr lang="en-US" altLang="zh-TW" sz="3200" dirty="0"/>
          </a:p>
          <a:p>
            <a:r>
              <a:rPr lang="en-US" altLang="zh-TW" sz="3200" dirty="0"/>
              <a:t>(x11=0,x12=0):</a:t>
            </a:r>
            <a:r>
              <a:rPr lang="zh-TW" altLang="en-US" sz="3200" dirty="0"/>
              <a:t>沒有配備家俱</a:t>
            </a:r>
            <a:endParaRPr lang="zh-TW" altLang="zh-TW" sz="3200" dirty="0"/>
          </a:p>
        </p:txBody>
      </p:sp>
      <p:sp>
        <p:nvSpPr>
          <p:cNvPr id="5" name="投影片編號版面配置區 4">
            <a:extLst>
              <a:ext uri="{FF2B5EF4-FFF2-40B4-BE49-F238E27FC236}">
                <a16:creationId xmlns:a16="http://schemas.microsoft.com/office/drawing/2014/main" id="{86A7A764-5CCF-4F2A-9F86-4CAE56EF3F0E}"/>
              </a:ext>
            </a:extLst>
          </p:cNvPr>
          <p:cNvSpPr>
            <a:spLocks noGrp="1"/>
          </p:cNvSpPr>
          <p:nvPr>
            <p:ph type="sldNum" sz="quarter" idx="12"/>
          </p:nvPr>
        </p:nvSpPr>
        <p:spPr/>
        <p:txBody>
          <a:bodyPr/>
          <a:lstStyle/>
          <a:p>
            <a:r>
              <a:rPr lang="en-US" altLang="zh-TW" sz="2200" b="1" i="1" dirty="0"/>
              <a:t>7</a:t>
            </a:r>
            <a:endParaRPr lang="en-US" sz="2200" b="1" i="1" dirty="0"/>
          </a:p>
        </p:txBody>
      </p:sp>
    </p:spTree>
    <p:extLst>
      <p:ext uri="{BB962C8B-B14F-4D97-AF65-F5344CB8AC3E}">
        <p14:creationId xmlns:p14="http://schemas.microsoft.com/office/powerpoint/2010/main" val="4599417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9CDB85C1-0EB7-4511-B124-254B417CC842}"/>
              </a:ext>
            </a:extLst>
          </p:cNvPr>
          <p:cNvSpPr txBox="1"/>
          <p:nvPr/>
        </p:nvSpPr>
        <p:spPr>
          <a:xfrm>
            <a:off x="3800573" y="232164"/>
            <a:ext cx="4590854" cy="707886"/>
          </a:xfrm>
          <a:prstGeom prst="rect">
            <a:avLst/>
          </a:prstGeom>
          <a:noFill/>
        </p:spPr>
        <p:txBody>
          <a:bodyPr wrap="square" rtlCol="0">
            <a:spAutoFit/>
          </a:bodyPr>
          <a:lstStyle/>
          <a:p>
            <a:pPr algn="ctr"/>
            <a:r>
              <a:rPr lang="en-US" altLang="zh-TW" sz="4000" b="1" dirty="0"/>
              <a:t>(</a:t>
            </a:r>
            <a:r>
              <a:rPr lang="zh-TW" altLang="en-US" sz="4000" b="1" dirty="0"/>
              <a:t>四</a:t>
            </a:r>
            <a:r>
              <a:rPr lang="en-US" altLang="zh-TW" sz="4000" b="1" dirty="0"/>
              <a:t>)</a:t>
            </a:r>
            <a:r>
              <a:rPr lang="zh-TW" altLang="en-US" sz="4000" b="1" dirty="0"/>
              <a:t>假設檢定</a:t>
            </a:r>
          </a:p>
        </p:txBody>
      </p:sp>
      <p:sp>
        <p:nvSpPr>
          <p:cNvPr id="5" name="矩形 4">
            <a:extLst>
              <a:ext uri="{FF2B5EF4-FFF2-40B4-BE49-F238E27FC236}">
                <a16:creationId xmlns:a16="http://schemas.microsoft.com/office/drawing/2014/main" id="{1D656D9B-7365-4EBD-B861-6DD5466B6A0A}"/>
              </a:ext>
            </a:extLst>
          </p:cNvPr>
          <p:cNvSpPr/>
          <p:nvPr/>
        </p:nvSpPr>
        <p:spPr>
          <a:xfrm>
            <a:off x="1138688" y="940050"/>
            <a:ext cx="2028119" cy="622414"/>
          </a:xfrm>
          <a:prstGeom prst="rect">
            <a:avLst/>
          </a:prstGeom>
        </p:spPr>
        <p:txBody>
          <a:bodyPr wrap="none">
            <a:spAutoFit/>
          </a:bodyPr>
          <a:lstStyle/>
          <a:p>
            <a:pPr>
              <a:lnSpc>
                <a:spcPct val="115000"/>
              </a:lnSpc>
              <a:spcAft>
                <a:spcPts val="0"/>
              </a:spcAft>
            </a:pPr>
            <a:r>
              <a:rPr lang="zh-TW" altLang="zh-TW" sz="3200" b="1" dirty="0"/>
              <a:t>full model</a:t>
            </a:r>
            <a:r>
              <a:rPr lang="en-US" altLang="zh-TW" sz="3200" b="1" dirty="0"/>
              <a:t>:</a:t>
            </a:r>
            <a:endParaRPr lang="zh-TW" altLang="zh-TW" sz="3200" b="1" dirty="0"/>
          </a:p>
        </p:txBody>
      </p:sp>
      <p:pic>
        <p:nvPicPr>
          <p:cNvPr id="6" name="圖片 5">
            <a:extLst>
              <a:ext uri="{FF2B5EF4-FFF2-40B4-BE49-F238E27FC236}">
                <a16:creationId xmlns:a16="http://schemas.microsoft.com/office/drawing/2014/main" id="{02F310D7-0E60-48CE-A423-142D4148F7C5}"/>
              </a:ext>
            </a:extLst>
          </p:cNvPr>
          <p:cNvPicPr/>
          <p:nvPr/>
        </p:nvPicPr>
        <p:blipFill>
          <a:blip r:embed="rId2"/>
          <a:stretch>
            <a:fillRect/>
          </a:stretch>
        </p:blipFill>
        <p:spPr>
          <a:xfrm>
            <a:off x="1343962" y="1550538"/>
            <a:ext cx="5961907" cy="4697862"/>
          </a:xfrm>
          <a:prstGeom prst="rect">
            <a:avLst/>
          </a:prstGeom>
        </p:spPr>
      </p:pic>
      <p:sp>
        <p:nvSpPr>
          <p:cNvPr id="7" name="投影片編號版面配置區 6">
            <a:extLst>
              <a:ext uri="{FF2B5EF4-FFF2-40B4-BE49-F238E27FC236}">
                <a16:creationId xmlns:a16="http://schemas.microsoft.com/office/drawing/2014/main" id="{D278D23E-F71E-4803-A172-8A2A68E8E18D}"/>
              </a:ext>
            </a:extLst>
          </p:cNvPr>
          <p:cNvSpPr>
            <a:spLocks noGrp="1"/>
          </p:cNvSpPr>
          <p:nvPr>
            <p:ph type="sldNum" sz="quarter" idx="12"/>
          </p:nvPr>
        </p:nvSpPr>
        <p:spPr/>
        <p:txBody>
          <a:bodyPr/>
          <a:lstStyle/>
          <a:p>
            <a:r>
              <a:rPr lang="en-US" altLang="zh-TW" sz="2200" b="1" i="1" dirty="0"/>
              <a:t>8</a:t>
            </a:r>
            <a:endParaRPr lang="en-US" sz="2200" b="1" i="1" dirty="0"/>
          </a:p>
        </p:txBody>
      </p:sp>
      <mc:AlternateContent xmlns:mc="http://schemas.openxmlformats.org/markup-compatibility/2006" xmlns:a14="http://schemas.microsoft.com/office/drawing/2010/main">
        <mc:Choice Requires="a14">
          <p:sp>
            <p:nvSpPr>
              <p:cNvPr id="4" name="文字方塊 3">
                <a:extLst>
                  <a:ext uri="{FF2B5EF4-FFF2-40B4-BE49-F238E27FC236}">
                    <a16:creationId xmlns:a16="http://schemas.microsoft.com/office/drawing/2014/main" id="{2A70B3AB-ACC9-4A55-AF8F-CF4B5F47D46F}"/>
                  </a:ext>
                </a:extLst>
              </p:cNvPr>
              <p:cNvSpPr txBox="1"/>
              <p:nvPr/>
            </p:nvSpPr>
            <p:spPr>
              <a:xfrm>
                <a:off x="7511144" y="1651518"/>
                <a:ext cx="4422710" cy="3477875"/>
              </a:xfrm>
              <a:prstGeom prst="rect">
                <a:avLst/>
              </a:prstGeom>
              <a:noFill/>
            </p:spPr>
            <p:txBody>
              <a:bodyPr wrap="square" rtlCol="0">
                <a:spAutoFit/>
              </a:bodyPr>
              <a:lstStyle/>
              <a:p>
                <a:pPr marL="342900" indent="-342900">
                  <a:buAutoNum type="arabicParenBoth"/>
                </a:pPr>
                <a:r>
                  <a:rPr lang="en-US" altLang="zh-TW" sz="2000" dirty="0"/>
                  <a:t>Over all test</a:t>
                </a:r>
                <a:r>
                  <a:rPr lang="zh-TW" altLang="en-US" sz="2000" dirty="0"/>
                  <a:t> </a:t>
                </a:r>
                <a:r>
                  <a:rPr lang="en-US" altLang="zh-TW" sz="2000" dirty="0"/>
                  <a:t>F</a:t>
                </a:r>
                <a:r>
                  <a:rPr lang="zh-TW" altLang="en-US" sz="2000" dirty="0"/>
                  <a:t>檢定通過，</a:t>
                </a:r>
                <a:r>
                  <a:rPr lang="en-US" altLang="zh-TW" sz="2000" dirty="0" err="1"/>
                  <a:t>p_value</a:t>
                </a:r>
                <a:r>
                  <a:rPr lang="en-US" altLang="zh-TW" sz="2000" dirty="0"/>
                  <a:t>&lt;0.05</a:t>
                </a:r>
              </a:p>
              <a:p>
                <a:r>
                  <a:rPr lang="zh-TW" altLang="en-US" sz="2000" dirty="0"/>
                  <a:t>      </a:t>
                </a:r>
                <a:endParaRPr lang="en-US" altLang="zh-TW" sz="2000" dirty="0"/>
              </a:p>
              <a:p>
                <a:r>
                  <a:rPr lang="en-US" altLang="zh-TW" sz="2000" dirty="0"/>
                  <a:t>(2)</a:t>
                </a:r>
                <a:r>
                  <a:rPr lang="zh-TW" altLang="en-US" sz="2000" dirty="0"/>
                  <a:t>個別檢定 </a:t>
                </a:r>
                <a:r>
                  <a:rPr lang="en-US" altLang="zh-TW" sz="2000" dirty="0"/>
                  <a:t>T</a:t>
                </a:r>
                <a:r>
                  <a:rPr lang="zh-TW" altLang="en-US" sz="2000" dirty="0"/>
                  <a:t>檢定，只有</a:t>
                </a:r>
                <a:r>
                  <a:rPr lang="en-US" altLang="zh-TW" sz="2000" dirty="0"/>
                  <a:t>bedrooms</a:t>
                </a:r>
                <a:r>
                  <a:rPr lang="zh-TW" altLang="en-US" sz="2000" dirty="0"/>
                  <a:t>和  </a:t>
                </a:r>
                <a:endParaRPr lang="en-US" altLang="zh-TW" sz="2000" dirty="0"/>
              </a:p>
              <a:p>
                <a:r>
                  <a:rPr lang="zh-TW" altLang="en-US" sz="2000" dirty="0"/>
                  <a:t>    </a:t>
                </a:r>
                <a:r>
                  <a:rPr lang="en-US" altLang="zh-TW" sz="2000" dirty="0"/>
                  <a:t>guestrooms</a:t>
                </a:r>
                <a:r>
                  <a:rPr lang="zh-TW" altLang="en-US" sz="2000" dirty="0"/>
                  <a:t>不太算通過</a:t>
                </a:r>
                <a:endParaRPr lang="en-US" altLang="zh-TW" sz="2000" dirty="0"/>
              </a:p>
              <a:p>
                <a:endParaRPr lang="en-US" altLang="zh-TW" sz="2000" dirty="0"/>
              </a:p>
              <a:p>
                <a:r>
                  <a:rPr lang="en-US" altLang="zh-TW" sz="2000" dirty="0"/>
                  <a:t>(3)</a:t>
                </a:r>
                <a14:m>
                  <m:oMath xmlns:m="http://schemas.openxmlformats.org/officeDocument/2006/math">
                    <m:sSup>
                      <m:sSupPr>
                        <m:ctrlPr>
                          <a:rPr lang="en-US" altLang="zh-TW" sz="2000" i="1" smtClean="0">
                            <a:latin typeface="Cambria Math" panose="02040503050406030204" pitchFamily="18" charset="0"/>
                          </a:rPr>
                        </m:ctrlPr>
                      </m:sSupPr>
                      <m:e>
                        <m:r>
                          <a:rPr lang="en-US" altLang="zh-TW" sz="2000" b="0" i="1" smtClean="0">
                            <a:latin typeface="Cambria Math" panose="02040503050406030204" pitchFamily="18" charset="0"/>
                          </a:rPr>
                          <m:t> </m:t>
                        </m:r>
                        <m:r>
                          <a:rPr lang="en-US" altLang="zh-TW" sz="2000" b="0" i="1" smtClean="0">
                            <a:latin typeface="Cambria Math" panose="02040503050406030204" pitchFamily="18" charset="0"/>
                          </a:rPr>
                          <m:t>𝑅</m:t>
                        </m:r>
                      </m:e>
                      <m:sup>
                        <m:r>
                          <a:rPr lang="en-US" altLang="zh-TW" sz="2000" i="1" smtClean="0">
                            <a:latin typeface="Cambria Math" panose="02040503050406030204" pitchFamily="18" charset="0"/>
                          </a:rPr>
                          <m:t>2</m:t>
                        </m:r>
                      </m:sup>
                    </m:sSup>
                  </m:oMath>
                </a14:m>
                <a:r>
                  <a:rPr lang="en-US" altLang="zh-TW" sz="2000" dirty="0"/>
                  <a:t>=0.6664  ,  adj</a:t>
                </a:r>
                <a14:m>
                  <m:oMath xmlns:m="http://schemas.openxmlformats.org/officeDocument/2006/math">
                    <m:sSup>
                      <m:sSupPr>
                        <m:ctrlPr>
                          <a:rPr lang="en-US" altLang="zh-TW" sz="2000" i="1">
                            <a:latin typeface="Cambria Math" panose="02040503050406030204" pitchFamily="18" charset="0"/>
                          </a:rPr>
                        </m:ctrlPr>
                      </m:sSupPr>
                      <m:e>
                        <m:r>
                          <a:rPr lang="en-US" altLang="zh-TW" sz="2000" i="1">
                            <a:latin typeface="Cambria Math" panose="02040503050406030204" pitchFamily="18" charset="0"/>
                          </a:rPr>
                          <m:t> </m:t>
                        </m:r>
                        <m:r>
                          <a:rPr lang="en-US" altLang="zh-TW" sz="2000" i="1">
                            <a:latin typeface="Cambria Math" panose="02040503050406030204" pitchFamily="18" charset="0"/>
                          </a:rPr>
                          <m:t>𝑅</m:t>
                        </m:r>
                      </m:e>
                      <m:sup>
                        <m:r>
                          <a:rPr lang="en-US" altLang="zh-TW" sz="2000" i="1">
                            <a:latin typeface="Cambria Math" panose="02040503050406030204" pitchFamily="18" charset="0"/>
                          </a:rPr>
                          <m:t>2</m:t>
                        </m:r>
                      </m:sup>
                    </m:sSup>
                  </m:oMath>
                </a14:m>
                <a:r>
                  <a:rPr lang="en-US" altLang="zh-TW" sz="2000" dirty="0"/>
                  <a:t>=0.657 </a:t>
                </a:r>
                <a:r>
                  <a:rPr lang="zh-TW" altLang="en-US" sz="2000" dirty="0"/>
                  <a:t>不算太高或 太低 </a:t>
                </a:r>
                <a:r>
                  <a:rPr lang="en-US" altLang="zh-TW" sz="2000" dirty="0"/>
                  <a:t>(</a:t>
                </a:r>
                <a:r>
                  <a:rPr lang="zh-TW" altLang="en-US" sz="2000" dirty="0"/>
                  <a:t>以社會科學實驗的標準</a:t>
                </a:r>
                <a:r>
                  <a:rPr lang="en-US" altLang="zh-TW" sz="2000" dirty="0"/>
                  <a:t>)</a:t>
                </a:r>
              </a:p>
              <a:p>
                <a:endParaRPr lang="en-US" altLang="zh-TW" sz="2000" dirty="0"/>
              </a:p>
              <a:p>
                <a:r>
                  <a:rPr lang="en-US" altLang="zh-TW" sz="2000" dirty="0"/>
                  <a:t>(4)</a:t>
                </a:r>
                <a:r>
                  <a:rPr lang="zh-TW" altLang="en-US" sz="2000" dirty="0"/>
                  <a:t>根據</a:t>
                </a:r>
                <a:r>
                  <a:rPr lang="en-US" altLang="zh-TW" sz="2000" dirty="0"/>
                  <a:t>(3)</a:t>
                </a:r>
                <a:r>
                  <a:rPr lang="zh-TW" altLang="en-US" sz="2000" dirty="0"/>
                  <a:t>的看法，不會有</a:t>
                </a:r>
                <a:r>
                  <a:rPr lang="en-US" altLang="zh-TW" sz="2000" dirty="0"/>
                  <a:t>overfitting</a:t>
                </a:r>
                <a:r>
                  <a:rPr lang="zh-TW" altLang="en-US" sz="2000" dirty="0"/>
                  <a:t>及</a:t>
                </a:r>
                <a:endParaRPr lang="en-US" altLang="zh-TW" sz="2000" dirty="0"/>
              </a:p>
              <a:p>
                <a:r>
                  <a:rPr lang="en-US" altLang="zh-TW" sz="2000" dirty="0"/>
                  <a:t>    underfitting</a:t>
                </a:r>
                <a:r>
                  <a:rPr lang="zh-TW" altLang="en-US" sz="2000" dirty="0"/>
                  <a:t>的問題</a:t>
                </a:r>
              </a:p>
            </p:txBody>
          </p:sp>
        </mc:Choice>
        <mc:Fallback xmlns="">
          <p:sp>
            <p:nvSpPr>
              <p:cNvPr id="4" name="文字方塊 3">
                <a:extLst>
                  <a:ext uri="{FF2B5EF4-FFF2-40B4-BE49-F238E27FC236}">
                    <a16:creationId xmlns:a16="http://schemas.microsoft.com/office/drawing/2014/main" id="{2A70B3AB-ACC9-4A55-AF8F-CF4B5F47D46F}"/>
                  </a:ext>
                </a:extLst>
              </p:cNvPr>
              <p:cNvSpPr txBox="1">
                <a:spLocks noRot="1" noChangeAspect="1" noMove="1" noResize="1" noEditPoints="1" noAdjustHandles="1" noChangeArrowheads="1" noChangeShapeType="1" noTextEdit="1"/>
              </p:cNvSpPr>
              <p:nvPr/>
            </p:nvSpPr>
            <p:spPr>
              <a:xfrm>
                <a:off x="7511144" y="1651518"/>
                <a:ext cx="4422710" cy="3477875"/>
              </a:xfrm>
              <a:prstGeom prst="rect">
                <a:avLst/>
              </a:prstGeom>
              <a:blipFill>
                <a:blip r:embed="rId3"/>
                <a:stretch>
                  <a:fillRect l="-1377" t="-1228" b="-2632"/>
                </a:stretch>
              </a:blipFill>
            </p:spPr>
            <p:txBody>
              <a:bodyPr/>
              <a:lstStyle/>
              <a:p>
                <a:r>
                  <a:rPr lang="zh-TW" altLang="en-US">
                    <a:noFill/>
                  </a:rPr>
                  <a:t> </a:t>
                </a:r>
              </a:p>
            </p:txBody>
          </p:sp>
        </mc:Fallback>
      </mc:AlternateContent>
      <p:sp>
        <p:nvSpPr>
          <p:cNvPr id="8" name="矩形 7">
            <a:extLst>
              <a:ext uri="{FF2B5EF4-FFF2-40B4-BE49-F238E27FC236}">
                <a16:creationId xmlns:a16="http://schemas.microsoft.com/office/drawing/2014/main" id="{78EE91CB-7F75-4C38-BF2A-C3D357E98131}"/>
              </a:ext>
            </a:extLst>
          </p:cNvPr>
          <p:cNvSpPr/>
          <p:nvPr/>
        </p:nvSpPr>
        <p:spPr>
          <a:xfrm>
            <a:off x="1343962" y="5917950"/>
            <a:ext cx="5784626" cy="128287"/>
          </a:xfrm>
          <a:prstGeom prst="rect">
            <a:avLst/>
          </a:prstGeom>
          <a:noFill/>
          <a:ln>
            <a:solidFill>
              <a:srgbClr val="2FA3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矩形 8">
            <a:extLst>
              <a:ext uri="{FF2B5EF4-FFF2-40B4-BE49-F238E27FC236}">
                <a16:creationId xmlns:a16="http://schemas.microsoft.com/office/drawing/2014/main" id="{05CE7F95-EF2F-4239-B3AD-B46F6ADBA8BD}"/>
              </a:ext>
            </a:extLst>
          </p:cNvPr>
          <p:cNvSpPr/>
          <p:nvPr/>
        </p:nvSpPr>
        <p:spPr>
          <a:xfrm>
            <a:off x="4889241" y="6046237"/>
            <a:ext cx="2015412" cy="12828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0" name="矩形 9">
            <a:extLst>
              <a:ext uri="{FF2B5EF4-FFF2-40B4-BE49-F238E27FC236}">
                <a16:creationId xmlns:a16="http://schemas.microsoft.com/office/drawing/2014/main" id="{1975DE1F-9E5D-4335-884D-AA98E018E4D9}"/>
              </a:ext>
            </a:extLst>
          </p:cNvPr>
          <p:cNvSpPr/>
          <p:nvPr/>
        </p:nvSpPr>
        <p:spPr>
          <a:xfrm>
            <a:off x="4954555" y="3088433"/>
            <a:ext cx="1950098" cy="2219029"/>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42082573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08DE0F41-6323-4369-8C54-7885FD3D4DD5}"/>
              </a:ext>
            </a:extLst>
          </p:cNvPr>
          <p:cNvSpPr txBox="1"/>
          <p:nvPr/>
        </p:nvSpPr>
        <p:spPr>
          <a:xfrm>
            <a:off x="3800573" y="232164"/>
            <a:ext cx="4590854" cy="707886"/>
          </a:xfrm>
          <a:prstGeom prst="rect">
            <a:avLst/>
          </a:prstGeom>
          <a:noFill/>
        </p:spPr>
        <p:txBody>
          <a:bodyPr wrap="square" rtlCol="0">
            <a:spAutoFit/>
          </a:bodyPr>
          <a:lstStyle/>
          <a:p>
            <a:pPr algn="ctr"/>
            <a:r>
              <a:rPr lang="en-US" altLang="zh-TW" sz="4000" b="1" dirty="0"/>
              <a:t>(</a:t>
            </a:r>
            <a:r>
              <a:rPr lang="zh-TW" altLang="en-US" sz="4000" b="1" dirty="0"/>
              <a:t>五</a:t>
            </a:r>
            <a:r>
              <a:rPr lang="en-US" altLang="zh-TW" sz="4000" b="1" dirty="0"/>
              <a:t>)</a:t>
            </a:r>
            <a:r>
              <a:rPr lang="zh-TW" altLang="en-US" sz="4000" b="1" dirty="0"/>
              <a:t>殘差分析</a:t>
            </a:r>
          </a:p>
        </p:txBody>
      </p:sp>
      <p:pic>
        <p:nvPicPr>
          <p:cNvPr id="4" name="圖片 3">
            <a:extLst>
              <a:ext uri="{FF2B5EF4-FFF2-40B4-BE49-F238E27FC236}">
                <a16:creationId xmlns:a16="http://schemas.microsoft.com/office/drawing/2014/main" id="{265C4C86-B8D9-4ED3-9E72-7DFCBEF3245F}"/>
              </a:ext>
            </a:extLst>
          </p:cNvPr>
          <p:cNvPicPr/>
          <p:nvPr/>
        </p:nvPicPr>
        <p:blipFill>
          <a:blip r:embed="rId2"/>
          <a:stretch>
            <a:fillRect/>
          </a:stretch>
        </p:blipFill>
        <p:spPr>
          <a:xfrm>
            <a:off x="913774" y="1638851"/>
            <a:ext cx="7477654" cy="4489476"/>
          </a:xfrm>
          <a:prstGeom prst="rect">
            <a:avLst/>
          </a:prstGeom>
        </p:spPr>
      </p:pic>
      <p:sp>
        <p:nvSpPr>
          <p:cNvPr id="5" name="文字方塊 4">
            <a:extLst>
              <a:ext uri="{FF2B5EF4-FFF2-40B4-BE49-F238E27FC236}">
                <a16:creationId xmlns:a16="http://schemas.microsoft.com/office/drawing/2014/main" id="{98797326-149F-4BE3-8E89-949A7AB68441}"/>
              </a:ext>
            </a:extLst>
          </p:cNvPr>
          <p:cNvSpPr txBox="1"/>
          <p:nvPr/>
        </p:nvSpPr>
        <p:spPr>
          <a:xfrm>
            <a:off x="913774" y="940050"/>
            <a:ext cx="2301240" cy="584775"/>
          </a:xfrm>
          <a:prstGeom prst="rect">
            <a:avLst/>
          </a:prstGeom>
          <a:noFill/>
        </p:spPr>
        <p:txBody>
          <a:bodyPr wrap="square" rtlCol="0">
            <a:spAutoFit/>
          </a:bodyPr>
          <a:lstStyle/>
          <a:p>
            <a:r>
              <a:rPr lang="en-US" altLang="zh-TW" sz="3200" dirty="0"/>
              <a:t>(1)</a:t>
            </a:r>
            <a:r>
              <a:rPr lang="zh-TW" altLang="en-US" sz="3200" dirty="0"/>
              <a:t>殘差圖</a:t>
            </a:r>
          </a:p>
        </p:txBody>
      </p:sp>
      <p:sp>
        <p:nvSpPr>
          <p:cNvPr id="7" name="投影片編號版面配置區 6">
            <a:extLst>
              <a:ext uri="{FF2B5EF4-FFF2-40B4-BE49-F238E27FC236}">
                <a16:creationId xmlns:a16="http://schemas.microsoft.com/office/drawing/2014/main" id="{79CBB512-8051-4ED4-A119-12CA8F2E544A}"/>
              </a:ext>
            </a:extLst>
          </p:cNvPr>
          <p:cNvSpPr>
            <a:spLocks noGrp="1"/>
          </p:cNvSpPr>
          <p:nvPr>
            <p:ph type="sldNum" sz="quarter" idx="12"/>
          </p:nvPr>
        </p:nvSpPr>
        <p:spPr/>
        <p:txBody>
          <a:bodyPr/>
          <a:lstStyle/>
          <a:p>
            <a:r>
              <a:rPr lang="en-US" altLang="zh-TW" sz="2200" b="1" i="1" dirty="0"/>
              <a:t>9</a:t>
            </a:r>
            <a:endParaRPr lang="en-US" sz="2200" b="1" i="1" dirty="0"/>
          </a:p>
        </p:txBody>
      </p:sp>
      <p:cxnSp>
        <p:nvCxnSpPr>
          <p:cNvPr id="6" name="直線單箭頭接點 5">
            <a:extLst>
              <a:ext uri="{FF2B5EF4-FFF2-40B4-BE49-F238E27FC236}">
                <a16:creationId xmlns:a16="http://schemas.microsoft.com/office/drawing/2014/main" id="{D706CD8E-EF2B-4111-88D2-1C3090F144C6}"/>
              </a:ext>
            </a:extLst>
          </p:cNvPr>
          <p:cNvCxnSpPr>
            <a:cxnSpLocks/>
          </p:cNvCxnSpPr>
          <p:nvPr/>
        </p:nvCxnSpPr>
        <p:spPr>
          <a:xfrm>
            <a:off x="4059332" y="4641447"/>
            <a:ext cx="187396" cy="9330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線接點 10">
            <a:extLst>
              <a:ext uri="{FF2B5EF4-FFF2-40B4-BE49-F238E27FC236}">
                <a16:creationId xmlns:a16="http://schemas.microsoft.com/office/drawing/2014/main" id="{45159681-E6DC-4E0D-9C65-79829B82C78B}"/>
              </a:ext>
            </a:extLst>
          </p:cNvPr>
          <p:cNvCxnSpPr>
            <a:cxnSpLocks/>
          </p:cNvCxnSpPr>
          <p:nvPr/>
        </p:nvCxnSpPr>
        <p:spPr>
          <a:xfrm flipV="1">
            <a:off x="1520889" y="2223626"/>
            <a:ext cx="2071396" cy="428327"/>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線接點 12">
            <a:extLst>
              <a:ext uri="{FF2B5EF4-FFF2-40B4-BE49-F238E27FC236}">
                <a16:creationId xmlns:a16="http://schemas.microsoft.com/office/drawing/2014/main" id="{8D52E0C9-E3A6-4526-BB29-EDD79E0FF2A7}"/>
              </a:ext>
            </a:extLst>
          </p:cNvPr>
          <p:cNvCxnSpPr>
            <a:cxnSpLocks/>
          </p:cNvCxnSpPr>
          <p:nvPr/>
        </p:nvCxnSpPr>
        <p:spPr>
          <a:xfrm>
            <a:off x="1520889" y="2978524"/>
            <a:ext cx="2071396" cy="317241"/>
          </a:xfrm>
          <a:prstGeom prst="line">
            <a:avLst/>
          </a:prstGeom>
        </p:spPr>
        <p:style>
          <a:lnRef idx="1">
            <a:schemeClr val="accent1"/>
          </a:lnRef>
          <a:fillRef idx="0">
            <a:schemeClr val="accent1"/>
          </a:fillRef>
          <a:effectRef idx="0">
            <a:schemeClr val="accent1"/>
          </a:effectRef>
          <a:fontRef idx="minor">
            <a:schemeClr val="tx1"/>
          </a:fontRef>
        </p:style>
      </p:cxnSp>
      <p:sp>
        <p:nvSpPr>
          <p:cNvPr id="17" name="右大括弧 16">
            <a:extLst>
              <a:ext uri="{FF2B5EF4-FFF2-40B4-BE49-F238E27FC236}">
                <a16:creationId xmlns:a16="http://schemas.microsoft.com/office/drawing/2014/main" id="{A1C10365-AE5C-4A29-874D-CBA3BB9728B5}"/>
              </a:ext>
            </a:extLst>
          </p:cNvPr>
          <p:cNvSpPr/>
          <p:nvPr/>
        </p:nvSpPr>
        <p:spPr>
          <a:xfrm>
            <a:off x="3725144" y="2223625"/>
            <a:ext cx="276905" cy="1072139"/>
          </a:xfrm>
          <a:prstGeom prst="rightBrace">
            <a:avLst/>
          </a:prstGeom>
          <a:noFill/>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TW" altLang="en-US"/>
          </a:p>
        </p:txBody>
      </p:sp>
      <p:sp>
        <p:nvSpPr>
          <p:cNvPr id="18" name="文字方塊 17">
            <a:extLst>
              <a:ext uri="{FF2B5EF4-FFF2-40B4-BE49-F238E27FC236}">
                <a16:creationId xmlns:a16="http://schemas.microsoft.com/office/drawing/2014/main" id="{6801BE39-3028-4900-883A-067C538FC9D4}"/>
              </a:ext>
            </a:extLst>
          </p:cNvPr>
          <p:cNvSpPr txBox="1"/>
          <p:nvPr/>
        </p:nvSpPr>
        <p:spPr>
          <a:xfrm>
            <a:off x="8391427" y="1638851"/>
            <a:ext cx="3424334" cy="1938992"/>
          </a:xfrm>
          <a:prstGeom prst="rect">
            <a:avLst/>
          </a:prstGeom>
          <a:noFill/>
        </p:spPr>
        <p:txBody>
          <a:bodyPr wrap="square" rtlCol="0">
            <a:spAutoFit/>
          </a:bodyPr>
          <a:lstStyle/>
          <a:p>
            <a:r>
              <a:rPr lang="en-US" altLang="zh-TW" sz="2400" dirty="0"/>
              <a:t>(1)Residuals vs Fitted </a:t>
            </a:r>
            <a:r>
              <a:rPr lang="zh-TW" altLang="en-US" sz="2400" dirty="0"/>
              <a:t>圖 </a:t>
            </a:r>
            <a:endParaRPr lang="en-US" altLang="zh-TW" sz="2400" dirty="0"/>
          </a:p>
          <a:p>
            <a:r>
              <a:rPr lang="zh-TW" altLang="en-US" sz="2400" dirty="0"/>
              <a:t>    尾端發散</a:t>
            </a:r>
            <a:endParaRPr lang="en-US" altLang="zh-TW" sz="2400" dirty="0"/>
          </a:p>
          <a:p>
            <a:endParaRPr lang="en-US" altLang="zh-TW" sz="2400" dirty="0"/>
          </a:p>
          <a:p>
            <a:r>
              <a:rPr lang="en-US" altLang="zh-TW" sz="2400" dirty="0"/>
              <a:t>(2)Q-Q</a:t>
            </a:r>
            <a:r>
              <a:rPr lang="zh-TW" altLang="en-US" sz="2400" dirty="0"/>
              <a:t> </a:t>
            </a:r>
            <a:r>
              <a:rPr lang="en-US" altLang="zh-TW" sz="2400" dirty="0"/>
              <a:t>plot </a:t>
            </a:r>
            <a:r>
              <a:rPr lang="zh-TW" altLang="en-US" sz="2400" dirty="0"/>
              <a:t>顯然不是</a:t>
            </a:r>
            <a:endParaRPr lang="en-US" altLang="zh-TW" sz="2400" dirty="0"/>
          </a:p>
          <a:p>
            <a:r>
              <a:rPr lang="zh-TW" altLang="en-US" sz="2400" dirty="0"/>
              <a:t>    一條直線</a:t>
            </a:r>
          </a:p>
        </p:txBody>
      </p:sp>
    </p:spTree>
    <p:extLst>
      <p:ext uri="{BB962C8B-B14F-4D97-AF65-F5344CB8AC3E}">
        <p14:creationId xmlns:p14="http://schemas.microsoft.com/office/powerpoint/2010/main" val="19881506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6.png">
            <a:extLst>
              <a:ext uri="{FF2B5EF4-FFF2-40B4-BE49-F238E27FC236}">
                <a16:creationId xmlns:a16="http://schemas.microsoft.com/office/drawing/2014/main" id="{30E42439-4945-405F-9228-78F66B85E6C1}"/>
              </a:ext>
            </a:extLst>
          </p:cNvPr>
          <p:cNvPicPr/>
          <p:nvPr/>
        </p:nvPicPr>
        <p:blipFill>
          <a:blip r:embed="rId2"/>
          <a:srcRect/>
          <a:stretch>
            <a:fillRect/>
          </a:stretch>
        </p:blipFill>
        <p:spPr>
          <a:xfrm>
            <a:off x="1228725" y="1611983"/>
            <a:ext cx="4714875" cy="4421171"/>
          </a:xfrm>
          <a:prstGeom prst="rect">
            <a:avLst/>
          </a:prstGeom>
          <a:ln/>
        </p:spPr>
      </p:pic>
      <p:sp>
        <p:nvSpPr>
          <p:cNvPr id="3" name="文字方塊 2">
            <a:extLst>
              <a:ext uri="{FF2B5EF4-FFF2-40B4-BE49-F238E27FC236}">
                <a16:creationId xmlns:a16="http://schemas.microsoft.com/office/drawing/2014/main" id="{252096FD-1704-4E46-B7A2-1140D0B1D550}"/>
              </a:ext>
            </a:extLst>
          </p:cNvPr>
          <p:cNvSpPr txBox="1"/>
          <p:nvPr/>
        </p:nvSpPr>
        <p:spPr>
          <a:xfrm>
            <a:off x="6096000" y="1611983"/>
            <a:ext cx="4867275" cy="830997"/>
          </a:xfrm>
          <a:prstGeom prst="rect">
            <a:avLst/>
          </a:prstGeom>
          <a:noFill/>
        </p:spPr>
        <p:txBody>
          <a:bodyPr wrap="square" rtlCol="0">
            <a:spAutoFit/>
          </a:bodyPr>
          <a:lstStyle/>
          <a:p>
            <a:r>
              <a:rPr lang="zh-TW" altLang="en-US" sz="2400" dirty="0"/>
              <a:t>殘差檢定沒有通過</a:t>
            </a:r>
            <a:endParaRPr lang="en-US" altLang="zh-TW" sz="2400" dirty="0"/>
          </a:p>
          <a:p>
            <a:r>
              <a:rPr lang="zh-TW" altLang="en-US" sz="2400" dirty="0"/>
              <a:t>因此試著做</a:t>
            </a:r>
            <a:r>
              <a:rPr lang="en-US" altLang="zh-TW" sz="2400" dirty="0"/>
              <a:t>Box-cox</a:t>
            </a:r>
            <a:r>
              <a:rPr lang="zh-TW" altLang="en-US" sz="2400" dirty="0"/>
              <a:t>轉換</a:t>
            </a:r>
          </a:p>
        </p:txBody>
      </p:sp>
      <p:sp>
        <p:nvSpPr>
          <p:cNvPr id="4" name="AutoShape 2" descr="http://127.0.0.1:32621/graphics/acd49741-cfb0-4ca0-8926-48056ec95ee7.png">
            <a:extLst>
              <a:ext uri="{FF2B5EF4-FFF2-40B4-BE49-F238E27FC236}">
                <a16:creationId xmlns:a16="http://schemas.microsoft.com/office/drawing/2014/main" id="{930DD0DD-F847-448A-AC49-31C383E19208}"/>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TW" altLang="en-US"/>
          </a:p>
        </p:txBody>
      </p:sp>
      <p:sp>
        <p:nvSpPr>
          <p:cNvPr id="6" name="文字方塊 5">
            <a:extLst>
              <a:ext uri="{FF2B5EF4-FFF2-40B4-BE49-F238E27FC236}">
                <a16:creationId xmlns:a16="http://schemas.microsoft.com/office/drawing/2014/main" id="{8D9F3721-04EF-44F1-B215-EE4AE6D64A05}"/>
              </a:ext>
            </a:extLst>
          </p:cNvPr>
          <p:cNvSpPr txBox="1"/>
          <p:nvPr/>
        </p:nvSpPr>
        <p:spPr>
          <a:xfrm>
            <a:off x="1381088" y="940050"/>
            <a:ext cx="8564189" cy="584775"/>
          </a:xfrm>
          <a:prstGeom prst="rect">
            <a:avLst/>
          </a:prstGeom>
          <a:noFill/>
        </p:spPr>
        <p:txBody>
          <a:bodyPr wrap="square" rtlCol="0">
            <a:spAutoFit/>
          </a:bodyPr>
          <a:lstStyle/>
          <a:p>
            <a:r>
              <a:rPr lang="en-US" altLang="zh-TW" sz="3200" dirty="0"/>
              <a:t>(2)</a:t>
            </a:r>
            <a:r>
              <a:rPr lang="zh-TW" altLang="en-US" sz="3200" dirty="0"/>
              <a:t>殘差常態</a:t>
            </a:r>
            <a:r>
              <a:rPr lang="en-US" altLang="zh-TW" sz="3200" dirty="0"/>
              <a:t>,</a:t>
            </a:r>
            <a:r>
              <a:rPr lang="zh-TW" altLang="en-US" sz="3200" dirty="0"/>
              <a:t>獨立性</a:t>
            </a:r>
            <a:r>
              <a:rPr lang="en-US" altLang="zh-TW" sz="3200" dirty="0"/>
              <a:t>,</a:t>
            </a:r>
            <a:r>
              <a:rPr lang="zh-TW" altLang="en-US" sz="3200" dirty="0"/>
              <a:t>齊一性檢定</a:t>
            </a:r>
          </a:p>
        </p:txBody>
      </p:sp>
      <p:sp>
        <p:nvSpPr>
          <p:cNvPr id="10" name="投影片編號版面配置區 6">
            <a:extLst>
              <a:ext uri="{FF2B5EF4-FFF2-40B4-BE49-F238E27FC236}">
                <a16:creationId xmlns:a16="http://schemas.microsoft.com/office/drawing/2014/main" id="{48B6C646-7C19-470A-8C50-CA137CC40DE7}"/>
              </a:ext>
            </a:extLst>
          </p:cNvPr>
          <p:cNvSpPr>
            <a:spLocks noGrp="1"/>
          </p:cNvSpPr>
          <p:nvPr>
            <p:ph type="sldNum" sz="quarter" idx="12"/>
          </p:nvPr>
        </p:nvSpPr>
        <p:spPr>
          <a:xfrm>
            <a:off x="10514011" y="5883275"/>
            <a:ext cx="764215" cy="365125"/>
          </a:xfrm>
        </p:spPr>
        <p:txBody>
          <a:bodyPr/>
          <a:lstStyle/>
          <a:p>
            <a:r>
              <a:rPr lang="en-US" altLang="zh-TW" sz="2200" b="1" i="1" dirty="0"/>
              <a:t>10</a:t>
            </a:r>
            <a:endParaRPr lang="en-US" sz="2200" b="1" i="1" dirty="0"/>
          </a:p>
        </p:txBody>
      </p:sp>
    </p:spTree>
    <p:extLst>
      <p:ext uri="{BB962C8B-B14F-4D97-AF65-F5344CB8AC3E}">
        <p14:creationId xmlns:p14="http://schemas.microsoft.com/office/powerpoint/2010/main" val="315799460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A7E01F7F-AEB0-4CBD-B248-E35A06A269FB}"/>
              </a:ext>
            </a:extLst>
          </p:cNvPr>
          <p:cNvSpPr txBox="1"/>
          <p:nvPr/>
        </p:nvSpPr>
        <p:spPr>
          <a:xfrm>
            <a:off x="3800574" y="232164"/>
            <a:ext cx="4590854" cy="707886"/>
          </a:xfrm>
          <a:prstGeom prst="rect">
            <a:avLst/>
          </a:prstGeom>
          <a:noFill/>
        </p:spPr>
        <p:txBody>
          <a:bodyPr wrap="square" rtlCol="0">
            <a:spAutoFit/>
          </a:bodyPr>
          <a:lstStyle/>
          <a:p>
            <a:pPr algn="ctr"/>
            <a:r>
              <a:rPr lang="en-US" altLang="zh-TW" sz="4000" b="1" dirty="0"/>
              <a:t>(</a:t>
            </a:r>
            <a:r>
              <a:rPr lang="zh-TW" altLang="en-US" sz="4000" b="1" dirty="0"/>
              <a:t>六</a:t>
            </a:r>
            <a:r>
              <a:rPr lang="en-US" altLang="zh-TW" sz="4000" b="1" dirty="0"/>
              <a:t>)Box-cox</a:t>
            </a:r>
            <a:r>
              <a:rPr lang="zh-TW" altLang="en-US" sz="4000" b="1" dirty="0"/>
              <a:t>轉換</a:t>
            </a: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D83D255E-D528-4A13-8F8D-12BD2186F96D}"/>
                  </a:ext>
                </a:extLst>
              </p:cNvPr>
              <p:cNvSpPr/>
              <p:nvPr/>
            </p:nvSpPr>
            <p:spPr>
              <a:xfrm>
                <a:off x="1563277" y="1129004"/>
                <a:ext cx="4590855" cy="1755609"/>
              </a:xfrm>
              <a:prstGeom prst="rect">
                <a:avLst/>
              </a:prstGeom>
            </p:spPr>
            <p:txBody>
              <a:bodyPr wrap="square">
                <a:spAutoFit/>
              </a:bodyPr>
              <a:lstStyle/>
              <a:p>
                <a:pPr>
                  <a:lnSpc>
                    <a:spcPct val="115000"/>
                  </a:lnSpc>
                </a:pPr>
                <a:r>
                  <a:rPr lang="zh-TW" altLang="zh-TW" sz="2400" dirty="0">
                    <a:ea typeface="Arial Unicode MS"/>
                    <a:cs typeface="Arial Unicode MS"/>
                  </a:rPr>
                  <a:t>計算得出的</a:t>
                </a:r>
                <a14:m>
                  <m:oMath xmlns:m="http://schemas.openxmlformats.org/officeDocument/2006/math">
                    <m:r>
                      <a:rPr lang="zh-TW" altLang="en-US" sz="2400" i="1">
                        <a:latin typeface="Cambria Math" panose="02040503050406030204" pitchFamily="18" charset="0"/>
                      </a:rPr>
                      <m:t>𝜆</m:t>
                    </m:r>
                  </m:oMath>
                </a14:m>
                <a:r>
                  <a:rPr lang="zh-TW" altLang="zh-TW" sz="2400" dirty="0"/>
                  <a:t>=0.02020202</a:t>
                </a:r>
              </a:p>
              <a:p>
                <a:pPr>
                  <a:lnSpc>
                    <a:spcPct val="115000"/>
                  </a:lnSpc>
                  <a:spcAft>
                    <a:spcPts val="0"/>
                  </a:spcAft>
                </a:pPr>
                <a:r>
                  <a:rPr lang="en-US" altLang="zh-TW" sz="2400" dirty="0">
                    <a:ea typeface="Arial Unicode MS"/>
                    <a:cs typeface="Arial Unicode MS"/>
                  </a:rPr>
                  <a:t>,</a:t>
                </a:r>
                <a:r>
                  <a:rPr lang="zh-TW" altLang="zh-TW" sz="2400" dirty="0">
                    <a:ea typeface="Arial Unicode MS"/>
                    <a:cs typeface="Arial Unicode MS"/>
                  </a:rPr>
                  <a:t>為了更好解釋</a:t>
                </a:r>
                <a:r>
                  <a:rPr lang="en-US" altLang="zh-TW" sz="2400" dirty="0">
                    <a:ea typeface="Arial Unicode MS"/>
                    <a:cs typeface="Arial Unicode MS"/>
                  </a:rPr>
                  <a:t>,</a:t>
                </a:r>
                <a:r>
                  <a:rPr lang="zh-TW" altLang="zh-TW" sz="2400" dirty="0">
                    <a:ea typeface="Arial Unicode MS"/>
                    <a:cs typeface="Arial Unicode MS"/>
                  </a:rPr>
                  <a:t>嘗試</a:t>
                </a:r>
                <a14:m>
                  <m:oMath xmlns:m="http://schemas.openxmlformats.org/officeDocument/2006/math">
                    <m:r>
                      <a:rPr lang="zh-TW" altLang="en-US" sz="2400" i="1">
                        <a:latin typeface="Cambria Math" panose="02040503050406030204" pitchFamily="18" charset="0"/>
                      </a:rPr>
                      <m:t>𝜆</m:t>
                    </m:r>
                  </m:oMath>
                </a14:m>
                <a:r>
                  <a:rPr lang="zh-TW" altLang="zh-TW" sz="2400" dirty="0">
                    <a:ea typeface="Arial Unicode MS"/>
                    <a:cs typeface="Arial Unicode MS"/>
                  </a:rPr>
                  <a:t>=0.</a:t>
                </a:r>
                <a:r>
                  <a:rPr lang="en-US" altLang="zh-TW" sz="2400" dirty="0">
                    <a:ea typeface="Arial Unicode MS"/>
                    <a:cs typeface="Arial Unicode MS"/>
                  </a:rPr>
                  <a:t>02</a:t>
                </a:r>
                <a:r>
                  <a:rPr lang="zh-TW" altLang="zh-TW" sz="2400" dirty="0">
                    <a:ea typeface="Arial Unicode MS"/>
                    <a:cs typeface="Arial Unicode MS"/>
                  </a:rPr>
                  <a:t>進行轉換</a:t>
                </a:r>
                <a:r>
                  <a:rPr lang="en-US" altLang="zh-TW" sz="2400" dirty="0">
                    <a:ea typeface="Arial Unicode MS"/>
                    <a:cs typeface="Arial Unicode MS"/>
                  </a:rPr>
                  <a:t>,</a:t>
                </a:r>
                <a:r>
                  <a:rPr lang="zh-TW" altLang="en-US" sz="2400" dirty="0">
                    <a:ea typeface="Arial Unicode MS"/>
                    <a:cs typeface="Arial Unicode MS"/>
                  </a:rPr>
                  <a:t>轉換後的結果如右圖</a:t>
                </a:r>
                <a:endParaRPr lang="en-US" altLang="zh-TW" sz="2400" dirty="0">
                  <a:ea typeface="Arial Unicode MS"/>
                  <a:cs typeface="Arial Unicode MS"/>
                </a:endParaRPr>
              </a:p>
              <a:p>
                <a:pPr>
                  <a:lnSpc>
                    <a:spcPct val="115000"/>
                  </a:lnSpc>
                  <a:spcAft>
                    <a:spcPts val="0"/>
                  </a:spcAft>
                </a:pPr>
                <a:r>
                  <a:rPr lang="zh-TW" altLang="en-US" sz="2400" dirty="0">
                    <a:ea typeface="Arial Unicode MS"/>
                    <a:cs typeface="Arial Unicode MS"/>
                  </a:rPr>
                  <a:t>下面的圖則是</a:t>
                </a:r>
                <a:r>
                  <a:rPr lang="en-US" altLang="zh-TW" sz="2400" dirty="0">
                    <a:ea typeface="Arial Unicode MS"/>
                    <a:cs typeface="Arial Unicode MS"/>
                  </a:rPr>
                  <a:t>code</a:t>
                </a:r>
              </a:p>
            </p:txBody>
          </p:sp>
        </mc:Choice>
        <mc:Fallback xmlns="">
          <p:sp>
            <p:nvSpPr>
              <p:cNvPr id="5" name="矩形 4">
                <a:extLst>
                  <a:ext uri="{FF2B5EF4-FFF2-40B4-BE49-F238E27FC236}">
                    <a16:creationId xmlns:a16="http://schemas.microsoft.com/office/drawing/2014/main" id="{D83D255E-D528-4A13-8F8D-12BD2186F96D}"/>
                  </a:ext>
                </a:extLst>
              </p:cNvPr>
              <p:cNvSpPr>
                <a:spLocks noRot="1" noChangeAspect="1" noMove="1" noResize="1" noEditPoints="1" noAdjustHandles="1" noChangeArrowheads="1" noChangeShapeType="1" noTextEdit="1"/>
              </p:cNvSpPr>
              <p:nvPr/>
            </p:nvSpPr>
            <p:spPr>
              <a:xfrm>
                <a:off x="1563277" y="1129004"/>
                <a:ext cx="4590855" cy="1755609"/>
              </a:xfrm>
              <a:prstGeom prst="rect">
                <a:avLst/>
              </a:prstGeom>
              <a:blipFill>
                <a:blip r:embed="rId2"/>
                <a:stretch>
                  <a:fillRect l="-1989" t="-1389" b="-7639"/>
                </a:stretch>
              </a:blipFill>
            </p:spPr>
            <p:txBody>
              <a:bodyPr/>
              <a:lstStyle/>
              <a:p>
                <a:r>
                  <a:rPr lang="zh-TW" altLang="en-US">
                    <a:noFill/>
                  </a:rPr>
                  <a:t> </a:t>
                </a:r>
              </a:p>
            </p:txBody>
          </p:sp>
        </mc:Fallback>
      </mc:AlternateContent>
      <p:pic>
        <p:nvPicPr>
          <p:cNvPr id="7" name="圖片 6">
            <a:extLst>
              <a:ext uri="{FF2B5EF4-FFF2-40B4-BE49-F238E27FC236}">
                <a16:creationId xmlns:a16="http://schemas.microsoft.com/office/drawing/2014/main" id="{B90F65A6-75EE-4CF5-B821-DF3426E2569C}"/>
              </a:ext>
            </a:extLst>
          </p:cNvPr>
          <p:cNvPicPr/>
          <p:nvPr/>
        </p:nvPicPr>
        <p:blipFill>
          <a:blip r:embed="rId3"/>
          <a:stretch>
            <a:fillRect/>
          </a:stretch>
        </p:blipFill>
        <p:spPr>
          <a:xfrm>
            <a:off x="1621408" y="3281157"/>
            <a:ext cx="4558567" cy="2354083"/>
          </a:xfrm>
          <a:prstGeom prst="rect">
            <a:avLst/>
          </a:prstGeom>
        </p:spPr>
      </p:pic>
      <p:pic>
        <p:nvPicPr>
          <p:cNvPr id="8" name="圖片 7">
            <a:extLst>
              <a:ext uri="{FF2B5EF4-FFF2-40B4-BE49-F238E27FC236}">
                <a16:creationId xmlns:a16="http://schemas.microsoft.com/office/drawing/2014/main" id="{992088D1-3B8B-48B0-B180-0397004904DD}"/>
              </a:ext>
            </a:extLst>
          </p:cNvPr>
          <p:cNvPicPr/>
          <p:nvPr/>
        </p:nvPicPr>
        <p:blipFill>
          <a:blip r:embed="rId4"/>
          <a:stretch>
            <a:fillRect/>
          </a:stretch>
        </p:blipFill>
        <p:spPr>
          <a:xfrm>
            <a:off x="6096001" y="1129004"/>
            <a:ext cx="5520611" cy="4506236"/>
          </a:xfrm>
          <a:prstGeom prst="rect">
            <a:avLst/>
          </a:prstGeom>
        </p:spPr>
      </p:pic>
      <p:sp>
        <p:nvSpPr>
          <p:cNvPr id="9" name="投影片編號版面配置區 6">
            <a:extLst>
              <a:ext uri="{FF2B5EF4-FFF2-40B4-BE49-F238E27FC236}">
                <a16:creationId xmlns:a16="http://schemas.microsoft.com/office/drawing/2014/main" id="{D07313D5-8627-4488-A6A7-97BEF45FD6CD}"/>
              </a:ext>
            </a:extLst>
          </p:cNvPr>
          <p:cNvSpPr>
            <a:spLocks noGrp="1"/>
          </p:cNvSpPr>
          <p:nvPr>
            <p:ph type="sldNum" sz="quarter" idx="12"/>
          </p:nvPr>
        </p:nvSpPr>
        <p:spPr>
          <a:xfrm>
            <a:off x="10514011" y="5883275"/>
            <a:ext cx="764215" cy="365125"/>
          </a:xfrm>
        </p:spPr>
        <p:txBody>
          <a:bodyPr/>
          <a:lstStyle/>
          <a:p>
            <a:r>
              <a:rPr lang="en-US" altLang="zh-TW" sz="2200" b="1" i="1" dirty="0"/>
              <a:t>11</a:t>
            </a:r>
            <a:endParaRPr lang="en-US" sz="2200" b="1" i="1" dirty="0"/>
          </a:p>
        </p:txBody>
      </p:sp>
      <p:sp>
        <p:nvSpPr>
          <p:cNvPr id="3" name="矩形 2">
            <a:extLst>
              <a:ext uri="{FF2B5EF4-FFF2-40B4-BE49-F238E27FC236}">
                <a16:creationId xmlns:a16="http://schemas.microsoft.com/office/drawing/2014/main" id="{95BDD05F-73F8-46AA-A748-412E64626932}"/>
              </a:ext>
            </a:extLst>
          </p:cNvPr>
          <p:cNvSpPr/>
          <p:nvPr/>
        </p:nvSpPr>
        <p:spPr>
          <a:xfrm>
            <a:off x="8761445" y="2593910"/>
            <a:ext cx="1752566" cy="2146041"/>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矩形 3">
            <a:extLst>
              <a:ext uri="{FF2B5EF4-FFF2-40B4-BE49-F238E27FC236}">
                <a16:creationId xmlns:a16="http://schemas.microsoft.com/office/drawing/2014/main" id="{CB3AFE99-36F0-4D6D-B633-442C27048CD8}"/>
              </a:ext>
            </a:extLst>
          </p:cNvPr>
          <p:cNvSpPr/>
          <p:nvPr/>
        </p:nvSpPr>
        <p:spPr>
          <a:xfrm>
            <a:off x="6096000" y="5253135"/>
            <a:ext cx="4418011" cy="149289"/>
          </a:xfrm>
          <a:prstGeom prst="rect">
            <a:avLst/>
          </a:prstGeom>
          <a:noFill/>
          <a:ln>
            <a:solidFill>
              <a:srgbClr val="2FA3E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矩形 5">
            <a:extLst>
              <a:ext uri="{FF2B5EF4-FFF2-40B4-BE49-F238E27FC236}">
                <a16:creationId xmlns:a16="http://schemas.microsoft.com/office/drawing/2014/main" id="{D7B4A64C-AD6E-432D-851E-5F7786A741CE}"/>
              </a:ext>
            </a:extLst>
          </p:cNvPr>
          <p:cNvSpPr/>
          <p:nvPr/>
        </p:nvSpPr>
        <p:spPr>
          <a:xfrm>
            <a:off x="8854751" y="5402424"/>
            <a:ext cx="1427584" cy="149289"/>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1240358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6F520E7D-ADEB-4F64-B16C-D5BEBD7DE195}"/>
              </a:ext>
            </a:extLst>
          </p:cNvPr>
          <p:cNvSpPr txBox="1"/>
          <p:nvPr/>
        </p:nvSpPr>
        <p:spPr>
          <a:xfrm>
            <a:off x="1084083" y="707012"/>
            <a:ext cx="4251489" cy="461665"/>
          </a:xfrm>
          <a:prstGeom prst="rect">
            <a:avLst/>
          </a:prstGeom>
          <a:noFill/>
        </p:spPr>
        <p:txBody>
          <a:bodyPr wrap="square" rtlCol="0">
            <a:spAutoFit/>
          </a:bodyPr>
          <a:lstStyle/>
          <a:p>
            <a:r>
              <a:rPr lang="en-US" altLang="zh-TW" sz="2400" dirty="0" err="1"/>
              <a:t>BoxCox</a:t>
            </a:r>
            <a:r>
              <a:rPr lang="zh-TW" altLang="en-US" sz="2400" dirty="0"/>
              <a:t>轉換完之後的殘差圖</a:t>
            </a:r>
            <a:r>
              <a:rPr lang="en-US" altLang="zh-TW" sz="2400" dirty="0"/>
              <a:t>:</a:t>
            </a:r>
            <a:endParaRPr lang="zh-TW" altLang="en-US" sz="2400" dirty="0"/>
          </a:p>
        </p:txBody>
      </p:sp>
      <p:pic>
        <p:nvPicPr>
          <p:cNvPr id="4" name="圖片 3">
            <a:extLst>
              <a:ext uri="{FF2B5EF4-FFF2-40B4-BE49-F238E27FC236}">
                <a16:creationId xmlns:a16="http://schemas.microsoft.com/office/drawing/2014/main" id="{289FC039-53FC-48A6-A886-F199B3EDDED7}"/>
              </a:ext>
            </a:extLst>
          </p:cNvPr>
          <p:cNvPicPr/>
          <p:nvPr/>
        </p:nvPicPr>
        <p:blipFill>
          <a:blip r:embed="rId2"/>
          <a:stretch>
            <a:fillRect/>
          </a:stretch>
        </p:blipFill>
        <p:spPr>
          <a:xfrm>
            <a:off x="1084084" y="1168677"/>
            <a:ext cx="7126856" cy="4826770"/>
          </a:xfrm>
          <a:prstGeom prst="rect">
            <a:avLst/>
          </a:prstGeom>
        </p:spPr>
      </p:pic>
      <p:sp>
        <p:nvSpPr>
          <p:cNvPr id="7" name="投影片編號版面配置區 6">
            <a:extLst>
              <a:ext uri="{FF2B5EF4-FFF2-40B4-BE49-F238E27FC236}">
                <a16:creationId xmlns:a16="http://schemas.microsoft.com/office/drawing/2014/main" id="{55C6CE22-64D1-4690-9F30-F01107EE2447}"/>
              </a:ext>
            </a:extLst>
          </p:cNvPr>
          <p:cNvSpPr>
            <a:spLocks noGrp="1"/>
          </p:cNvSpPr>
          <p:nvPr>
            <p:ph type="sldNum" sz="quarter" idx="12"/>
          </p:nvPr>
        </p:nvSpPr>
        <p:spPr>
          <a:xfrm>
            <a:off x="10514011" y="5883275"/>
            <a:ext cx="764215" cy="365125"/>
          </a:xfrm>
        </p:spPr>
        <p:txBody>
          <a:bodyPr/>
          <a:lstStyle/>
          <a:p>
            <a:r>
              <a:rPr lang="en-US" altLang="zh-TW" sz="2200" b="1" i="1" dirty="0"/>
              <a:t>12</a:t>
            </a:r>
            <a:endParaRPr lang="en-US" sz="2200" b="1" i="1" dirty="0"/>
          </a:p>
        </p:txBody>
      </p:sp>
      <p:cxnSp>
        <p:nvCxnSpPr>
          <p:cNvPr id="5" name="直線接點 4">
            <a:extLst>
              <a:ext uri="{FF2B5EF4-FFF2-40B4-BE49-F238E27FC236}">
                <a16:creationId xmlns:a16="http://schemas.microsoft.com/office/drawing/2014/main" id="{3D835BFE-3EB2-4529-8900-C67B7847AFA1}"/>
              </a:ext>
            </a:extLst>
          </p:cNvPr>
          <p:cNvCxnSpPr>
            <a:cxnSpLocks/>
          </p:cNvCxnSpPr>
          <p:nvPr/>
        </p:nvCxnSpPr>
        <p:spPr>
          <a:xfrm>
            <a:off x="1756945" y="1726163"/>
            <a:ext cx="2441831"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線接點 9">
            <a:extLst>
              <a:ext uri="{FF2B5EF4-FFF2-40B4-BE49-F238E27FC236}">
                <a16:creationId xmlns:a16="http://schemas.microsoft.com/office/drawing/2014/main" id="{DEA8E035-90CA-4A1F-8C2E-D0736DABC05E}"/>
              </a:ext>
            </a:extLst>
          </p:cNvPr>
          <p:cNvCxnSpPr>
            <a:cxnSpLocks/>
          </p:cNvCxnSpPr>
          <p:nvPr/>
        </p:nvCxnSpPr>
        <p:spPr>
          <a:xfrm>
            <a:off x="1756945" y="2836506"/>
            <a:ext cx="2451161" cy="0"/>
          </a:xfrm>
          <a:prstGeom prst="line">
            <a:avLst/>
          </a:prstGeom>
        </p:spPr>
        <p:style>
          <a:lnRef idx="1">
            <a:schemeClr val="accent1"/>
          </a:lnRef>
          <a:fillRef idx="0">
            <a:schemeClr val="accent1"/>
          </a:fillRef>
          <a:effectRef idx="0">
            <a:schemeClr val="accent1"/>
          </a:effectRef>
          <a:fontRef idx="minor">
            <a:schemeClr val="tx1"/>
          </a:fontRef>
        </p:style>
      </p:cxnSp>
      <p:sp>
        <p:nvSpPr>
          <p:cNvPr id="22" name="文字方塊 21">
            <a:extLst>
              <a:ext uri="{FF2B5EF4-FFF2-40B4-BE49-F238E27FC236}">
                <a16:creationId xmlns:a16="http://schemas.microsoft.com/office/drawing/2014/main" id="{A841264D-1DCB-4B5E-A258-68C9D7B77641}"/>
              </a:ext>
            </a:extLst>
          </p:cNvPr>
          <p:cNvSpPr txBox="1"/>
          <p:nvPr/>
        </p:nvSpPr>
        <p:spPr>
          <a:xfrm>
            <a:off x="8472196" y="1548882"/>
            <a:ext cx="3573624" cy="2585323"/>
          </a:xfrm>
          <a:prstGeom prst="rect">
            <a:avLst/>
          </a:prstGeom>
          <a:noFill/>
        </p:spPr>
        <p:txBody>
          <a:bodyPr wrap="square" rtlCol="0">
            <a:spAutoFit/>
          </a:bodyPr>
          <a:lstStyle/>
          <a:p>
            <a:r>
              <a:rPr lang="en-US" altLang="zh-TW" sz="2400" dirty="0"/>
              <a:t>(1)Residuals vs Fitted </a:t>
            </a:r>
            <a:r>
              <a:rPr lang="zh-TW" altLang="en-US" sz="2400" dirty="0"/>
              <a:t>圖 </a:t>
            </a:r>
            <a:endParaRPr lang="en-US" altLang="zh-TW" sz="2400" dirty="0"/>
          </a:p>
          <a:p>
            <a:r>
              <a:rPr lang="zh-TW" altLang="en-US" sz="2400" dirty="0"/>
              <a:t>    點散布幾乎一致</a:t>
            </a:r>
            <a:endParaRPr lang="en-US" altLang="zh-TW" sz="2400" dirty="0"/>
          </a:p>
          <a:p>
            <a:endParaRPr lang="en-US" altLang="zh-TW" sz="2400" dirty="0"/>
          </a:p>
          <a:p>
            <a:r>
              <a:rPr lang="en-US" altLang="zh-TW" sz="2400" dirty="0"/>
              <a:t>(2)Q-Q</a:t>
            </a:r>
            <a:r>
              <a:rPr lang="zh-TW" altLang="en-US" sz="2400" dirty="0"/>
              <a:t> </a:t>
            </a:r>
            <a:r>
              <a:rPr lang="en-US" altLang="zh-TW" sz="2400" dirty="0"/>
              <a:t>plot </a:t>
            </a:r>
            <a:r>
              <a:rPr lang="zh-TW" altLang="en-US" sz="2400" dirty="0"/>
              <a:t>接近一條直線</a:t>
            </a:r>
          </a:p>
          <a:p>
            <a:endParaRPr lang="en-US" altLang="zh-TW" dirty="0"/>
          </a:p>
          <a:p>
            <a:r>
              <a:rPr lang="en-US" altLang="zh-TW" sz="2400" dirty="0"/>
              <a:t>(3)</a:t>
            </a:r>
            <a:r>
              <a:rPr lang="en-US" altLang="zh-TW" sz="2400" dirty="0" err="1"/>
              <a:t>leverge</a:t>
            </a:r>
            <a:r>
              <a:rPr lang="zh-TW" altLang="en-US" sz="2400" dirty="0"/>
              <a:t>很大的點都沒有</a:t>
            </a:r>
            <a:endParaRPr lang="en-US" altLang="zh-TW" sz="2400" dirty="0"/>
          </a:p>
          <a:p>
            <a:r>
              <a:rPr lang="zh-TW" altLang="en-US" sz="2400" dirty="0"/>
              <a:t>    太偏離紅線</a:t>
            </a:r>
          </a:p>
        </p:txBody>
      </p:sp>
    </p:spTree>
    <p:extLst>
      <p:ext uri="{BB962C8B-B14F-4D97-AF65-F5344CB8AC3E}">
        <p14:creationId xmlns:p14="http://schemas.microsoft.com/office/powerpoint/2010/main" val="9432940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37F82577-AAFB-40BD-9631-C8F31BA58470}"/>
              </a:ext>
            </a:extLst>
          </p:cNvPr>
          <p:cNvSpPr/>
          <p:nvPr/>
        </p:nvSpPr>
        <p:spPr>
          <a:xfrm>
            <a:off x="1360601" y="862355"/>
            <a:ext cx="9144000" cy="488147"/>
          </a:xfrm>
          <a:prstGeom prst="rect">
            <a:avLst/>
          </a:prstGeom>
        </p:spPr>
        <p:txBody>
          <a:bodyPr wrap="square">
            <a:spAutoFit/>
          </a:bodyPr>
          <a:lstStyle/>
          <a:p>
            <a:pPr>
              <a:lnSpc>
                <a:spcPct val="115000"/>
              </a:lnSpc>
              <a:spcAft>
                <a:spcPts val="0"/>
              </a:spcAft>
            </a:pPr>
            <a:r>
              <a:rPr lang="zh-TW" altLang="zh-TW" sz="2400" dirty="0">
                <a:ea typeface="Arial Unicode MS"/>
                <a:cs typeface="Arial Unicode MS"/>
              </a:rPr>
              <a:t>檢定也表示轉化後的模型殘差符合 常態分佈 獨立性 齊一性 的假設</a:t>
            </a:r>
            <a:endParaRPr lang="zh-TW" altLang="zh-TW" sz="2400" dirty="0"/>
          </a:p>
        </p:txBody>
      </p:sp>
      <p:pic>
        <p:nvPicPr>
          <p:cNvPr id="4" name="圖片 3">
            <a:extLst>
              <a:ext uri="{FF2B5EF4-FFF2-40B4-BE49-F238E27FC236}">
                <a16:creationId xmlns:a16="http://schemas.microsoft.com/office/drawing/2014/main" id="{D480B993-B79D-4DDB-A17D-65FB36A14BCE}"/>
              </a:ext>
            </a:extLst>
          </p:cNvPr>
          <p:cNvPicPr/>
          <p:nvPr/>
        </p:nvPicPr>
        <p:blipFill>
          <a:blip r:embed="rId2"/>
          <a:stretch>
            <a:fillRect/>
          </a:stretch>
        </p:blipFill>
        <p:spPr>
          <a:xfrm>
            <a:off x="1687399" y="1343769"/>
            <a:ext cx="8817202" cy="4764800"/>
          </a:xfrm>
          <a:prstGeom prst="rect">
            <a:avLst/>
          </a:prstGeom>
        </p:spPr>
      </p:pic>
      <p:sp>
        <p:nvSpPr>
          <p:cNvPr id="7" name="投影片編號版面配置區 6">
            <a:extLst>
              <a:ext uri="{FF2B5EF4-FFF2-40B4-BE49-F238E27FC236}">
                <a16:creationId xmlns:a16="http://schemas.microsoft.com/office/drawing/2014/main" id="{7664C77A-420E-4C48-A0E4-8920BC84E346}"/>
              </a:ext>
            </a:extLst>
          </p:cNvPr>
          <p:cNvSpPr>
            <a:spLocks noGrp="1"/>
          </p:cNvSpPr>
          <p:nvPr>
            <p:ph type="sldNum" sz="quarter" idx="12"/>
          </p:nvPr>
        </p:nvSpPr>
        <p:spPr>
          <a:xfrm>
            <a:off x="10514011" y="5883275"/>
            <a:ext cx="764215" cy="365125"/>
          </a:xfrm>
        </p:spPr>
        <p:txBody>
          <a:bodyPr/>
          <a:lstStyle/>
          <a:p>
            <a:r>
              <a:rPr lang="en-US" altLang="zh-TW" sz="2200" b="1" i="1" dirty="0"/>
              <a:t>13</a:t>
            </a:r>
            <a:endParaRPr lang="en-US" sz="2200" b="1" i="1" dirty="0"/>
          </a:p>
        </p:txBody>
      </p:sp>
    </p:spTree>
    <p:extLst>
      <p:ext uri="{BB962C8B-B14F-4D97-AF65-F5344CB8AC3E}">
        <p14:creationId xmlns:p14="http://schemas.microsoft.com/office/powerpoint/2010/main" val="7832963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550230E6-894B-477C-92A9-399A4BBA8C71}"/>
              </a:ext>
            </a:extLst>
          </p:cNvPr>
          <p:cNvSpPr/>
          <p:nvPr/>
        </p:nvSpPr>
        <p:spPr>
          <a:xfrm>
            <a:off x="8630815" y="1453831"/>
            <a:ext cx="3480319" cy="3456844"/>
          </a:xfrm>
          <a:prstGeom prst="rect">
            <a:avLst/>
          </a:prstGeom>
        </p:spPr>
        <p:txBody>
          <a:bodyPr wrap="square">
            <a:spAutoFit/>
          </a:bodyPr>
          <a:lstStyle/>
          <a:p>
            <a:pPr>
              <a:lnSpc>
                <a:spcPct val="115000"/>
              </a:lnSpc>
              <a:spcAft>
                <a:spcPts val="0"/>
              </a:spcAft>
            </a:pPr>
            <a:r>
              <a:rPr lang="en-US" altLang="zh-TW" sz="2400" dirty="0">
                <a:ea typeface="Arial Unicode MS"/>
                <a:cs typeface="Arial Unicode MS"/>
              </a:rPr>
              <a:t>(1)</a:t>
            </a:r>
            <a:r>
              <a:rPr lang="zh-TW" altLang="en-US" sz="2400" dirty="0">
                <a:ea typeface="Arial Unicode MS"/>
                <a:cs typeface="Arial Unicode MS"/>
              </a:rPr>
              <a:t> </a:t>
            </a:r>
            <a:r>
              <a:rPr lang="en-US" altLang="zh-TW" sz="2400" dirty="0" err="1">
                <a:ea typeface="Arial Unicode MS"/>
                <a:cs typeface="Arial Unicode MS"/>
              </a:rPr>
              <a:t>Cook’D</a:t>
            </a:r>
            <a:r>
              <a:rPr lang="zh-TW" altLang="en-US" sz="2400" dirty="0">
                <a:ea typeface="Arial Unicode MS"/>
                <a:cs typeface="Arial Unicode MS"/>
              </a:rPr>
              <a:t> 不超過</a:t>
            </a:r>
            <a:r>
              <a:rPr lang="en-US" altLang="zh-TW" sz="2400" dirty="0">
                <a:ea typeface="Arial Unicode MS"/>
                <a:cs typeface="Arial Unicode MS"/>
              </a:rPr>
              <a:t>1</a:t>
            </a:r>
          </a:p>
          <a:p>
            <a:pPr>
              <a:lnSpc>
                <a:spcPct val="115000"/>
              </a:lnSpc>
              <a:spcAft>
                <a:spcPts val="0"/>
              </a:spcAft>
            </a:pPr>
            <a:r>
              <a:rPr lang="zh-TW" altLang="en-US" sz="2400" dirty="0">
                <a:ea typeface="Arial Unicode MS"/>
                <a:cs typeface="Arial Unicode MS"/>
              </a:rPr>
              <a:t>     沒有需要特別留意的</a:t>
            </a:r>
            <a:endParaRPr lang="en-US" altLang="zh-TW" sz="2400" dirty="0">
              <a:ea typeface="Arial Unicode MS"/>
              <a:cs typeface="Arial Unicode MS"/>
            </a:endParaRPr>
          </a:p>
          <a:p>
            <a:pPr>
              <a:lnSpc>
                <a:spcPct val="115000"/>
              </a:lnSpc>
              <a:spcAft>
                <a:spcPts val="0"/>
              </a:spcAft>
            </a:pPr>
            <a:r>
              <a:rPr lang="zh-TW" altLang="en-US" sz="2400" dirty="0">
                <a:ea typeface="Arial Unicode MS"/>
                <a:cs typeface="Arial Unicode MS"/>
              </a:rPr>
              <a:t>     影響點</a:t>
            </a:r>
            <a:endParaRPr lang="en-US" altLang="zh-TW" sz="2400" dirty="0">
              <a:ea typeface="Arial Unicode MS"/>
              <a:cs typeface="Arial Unicode MS"/>
            </a:endParaRPr>
          </a:p>
          <a:p>
            <a:pPr>
              <a:lnSpc>
                <a:spcPct val="115000"/>
              </a:lnSpc>
              <a:spcAft>
                <a:spcPts val="0"/>
              </a:spcAft>
            </a:pPr>
            <a:endParaRPr lang="en-US" altLang="zh-TW" sz="2400" dirty="0">
              <a:ea typeface="Arial Unicode MS"/>
              <a:cs typeface="Arial Unicode MS"/>
            </a:endParaRPr>
          </a:p>
          <a:p>
            <a:pPr>
              <a:lnSpc>
                <a:spcPct val="115000"/>
              </a:lnSpc>
              <a:spcAft>
                <a:spcPts val="0"/>
              </a:spcAft>
            </a:pPr>
            <a:r>
              <a:rPr lang="en-US" altLang="zh-TW" sz="2400" dirty="0">
                <a:ea typeface="Arial Unicode MS"/>
                <a:cs typeface="Arial Unicode MS"/>
              </a:rPr>
              <a:t>(2)</a:t>
            </a:r>
            <a:r>
              <a:rPr lang="zh-TW" altLang="en-US" sz="2400" dirty="0">
                <a:ea typeface="Arial Unicode MS"/>
                <a:cs typeface="Arial Unicode MS"/>
              </a:rPr>
              <a:t> 樣本中</a:t>
            </a:r>
            <a:r>
              <a:rPr lang="en-US" altLang="zh-TW" sz="2400" dirty="0">
                <a:ea typeface="Arial Unicode MS"/>
                <a:cs typeface="Arial Unicode MS"/>
              </a:rPr>
              <a:t>”</a:t>
            </a:r>
            <a:r>
              <a:rPr lang="zh-TW" altLang="en-US" sz="2400" dirty="0">
                <a:ea typeface="Arial Unicode MS"/>
                <a:cs typeface="Arial Unicode MS"/>
              </a:rPr>
              <a:t>可能</a:t>
            </a:r>
            <a:r>
              <a:rPr lang="en-US" altLang="zh-TW" sz="2400" dirty="0">
                <a:ea typeface="Arial Unicode MS"/>
                <a:cs typeface="Arial Unicode MS"/>
              </a:rPr>
              <a:t>”</a:t>
            </a:r>
            <a:r>
              <a:rPr lang="zh-TW" altLang="en-US" sz="2400" dirty="0">
                <a:ea typeface="Arial Unicode MS"/>
                <a:cs typeface="Arial Unicode MS"/>
              </a:rPr>
              <a:t>存   </a:t>
            </a:r>
            <a:endParaRPr lang="en-US" altLang="zh-TW" sz="2400" dirty="0">
              <a:ea typeface="Arial Unicode MS"/>
              <a:cs typeface="Arial Unicode MS"/>
            </a:endParaRPr>
          </a:p>
          <a:p>
            <a:pPr>
              <a:lnSpc>
                <a:spcPct val="115000"/>
              </a:lnSpc>
              <a:spcAft>
                <a:spcPts val="0"/>
              </a:spcAft>
            </a:pPr>
            <a:r>
              <a:rPr lang="zh-TW" altLang="en-US" sz="2400" dirty="0">
                <a:ea typeface="Arial Unicode MS"/>
                <a:cs typeface="Arial Unicode MS"/>
              </a:rPr>
              <a:t>     在離群值</a:t>
            </a:r>
            <a:endParaRPr lang="en-US" altLang="zh-TW" sz="2400" dirty="0">
              <a:ea typeface="Arial Unicode MS"/>
              <a:cs typeface="Arial Unicode MS"/>
            </a:endParaRPr>
          </a:p>
          <a:p>
            <a:pPr>
              <a:lnSpc>
                <a:spcPct val="115000"/>
              </a:lnSpc>
              <a:spcAft>
                <a:spcPts val="0"/>
              </a:spcAft>
            </a:pPr>
            <a:r>
              <a:rPr lang="zh-TW" altLang="en-US" sz="2400" dirty="0"/>
              <a:t>     </a:t>
            </a:r>
            <a:r>
              <a:rPr lang="en-US" altLang="zh-TW" sz="2400" dirty="0"/>
              <a:t>(8,14,67,221,510)</a:t>
            </a:r>
          </a:p>
          <a:p>
            <a:pPr>
              <a:lnSpc>
                <a:spcPct val="115000"/>
              </a:lnSpc>
              <a:spcAft>
                <a:spcPts val="0"/>
              </a:spcAft>
            </a:pPr>
            <a:r>
              <a:rPr lang="zh-TW" altLang="en-US" sz="2400" dirty="0"/>
              <a:t>     但不剃除</a:t>
            </a:r>
            <a:endParaRPr lang="zh-TW" altLang="zh-TW" sz="2400" dirty="0"/>
          </a:p>
        </p:txBody>
      </p:sp>
      <p:pic>
        <p:nvPicPr>
          <p:cNvPr id="3" name="圖片 2">
            <a:extLst>
              <a:ext uri="{FF2B5EF4-FFF2-40B4-BE49-F238E27FC236}">
                <a16:creationId xmlns:a16="http://schemas.microsoft.com/office/drawing/2014/main" id="{D30416C9-3C80-4843-85B0-92B669ADDF0F}"/>
              </a:ext>
            </a:extLst>
          </p:cNvPr>
          <p:cNvPicPr/>
          <p:nvPr/>
        </p:nvPicPr>
        <p:blipFill>
          <a:blip r:embed="rId2"/>
          <a:stretch>
            <a:fillRect/>
          </a:stretch>
        </p:blipFill>
        <p:spPr>
          <a:xfrm>
            <a:off x="820467" y="1183244"/>
            <a:ext cx="7670389" cy="4804451"/>
          </a:xfrm>
          <a:prstGeom prst="rect">
            <a:avLst/>
          </a:prstGeom>
        </p:spPr>
      </p:pic>
      <p:sp>
        <p:nvSpPr>
          <p:cNvPr id="7" name="投影片編號版面配置區 6">
            <a:extLst>
              <a:ext uri="{FF2B5EF4-FFF2-40B4-BE49-F238E27FC236}">
                <a16:creationId xmlns:a16="http://schemas.microsoft.com/office/drawing/2014/main" id="{2B684004-C57C-4597-9811-A4197A967D5E}"/>
              </a:ext>
            </a:extLst>
          </p:cNvPr>
          <p:cNvSpPr>
            <a:spLocks noGrp="1"/>
          </p:cNvSpPr>
          <p:nvPr>
            <p:ph type="sldNum" sz="quarter" idx="12"/>
          </p:nvPr>
        </p:nvSpPr>
        <p:spPr>
          <a:xfrm>
            <a:off x="10514011" y="5883275"/>
            <a:ext cx="764215" cy="365125"/>
          </a:xfrm>
        </p:spPr>
        <p:txBody>
          <a:bodyPr/>
          <a:lstStyle/>
          <a:p>
            <a:r>
              <a:rPr lang="en-US" altLang="zh-TW" sz="2200" b="1" i="1" dirty="0"/>
              <a:t>14</a:t>
            </a:r>
            <a:endParaRPr lang="en-US" sz="2200" b="1" i="1" dirty="0"/>
          </a:p>
        </p:txBody>
      </p:sp>
    </p:spTree>
    <p:extLst>
      <p:ext uri="{BB962C8B-B14F-4D97-AF65-F5344CB8AC3E}">
        <p14:creationId xmlns:p14="http://schemas.microsoft.com/office/powerpoint/2010/main" val="9606936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73FBBCC2-67CC-4D02-A190-A2B38B41E5ED}"/>
              </a:ext>
            </a:extLst>
          </p:cNvPr>
          <p:cNvSpPr txBox="1"/>
          <p:nvPr/>
        </p:nvSpPr>
        <p:spPr>
          <a:xfrm>
            <a:off x="3800574" y="232164"/>
            <a:ext cx="4590854" cy="707886"/>
          </a:xfrm>
          <a:prstGeom prst="rect">
            <a:avLst/>
          </a:prstGeom>
          <a:noFill/>
        </p:spPr>
        <p:txBody>
          <a:bodyPr wrap="square" rtlCol="0">
            <a:spAutoFit/>
          </a:bodyPr>
          <a:lstStyle/>
          <a:p>
            <a:pPr algn="ctr"/>
            <a:r>
              <a:rPr lang="en-US" altLang="zh-TW" sz="4000" b="1" dirty="0"/>
              <a:t>(</a:t>
            </a:r>
            <a:r>
              <a:rPr lang="zh-TW" altLang="en-US" sz="4000" b="1" dirty="0"/>
              <a:t>七</a:t>
            </a:r>
            <a:r>
              <a:rPr lang="en-US" altLang="zh-TW" sz="4000" b="1" dirty="0"/>
              <a:t>)</a:t>
            </a:r>
            <a:r>
              <a:rPr lang="zh-TW" altLang="en-US" sz="4000" b="1" dirty="0"/>
              <a:t>模型選擇</a:t>
            </a:r>
          </a:p>
        </p:txBody>
      </p:sp>
      <p:sp>
        <p:nvSpPr>
          <p:cNvPr id="3" name="文字方塊 2">
            <a:extLst>
              <a:ext uri="{FF2B5EF4-FFF2-40B4-BE49-F238E27FC236}">
                <a16:creationId xmlns:a16="http://schemas.microsoft.com/office/drawing/2014/main" id="{445DF4CE-A2FE-47E7-BF12-18606A61DB16}"/>
              </a:ext>
            </a:extLst>
          </p:cNvPr>
          <p:cNvSpPr txBox="1"/>
          <p:nvPr/>
        </p:nvSpPr>
        <p:spPr>
          <a:xfrm>
            <a:off x="1074655" y="940050"/>
            <a:ext cx="4232635" cy="584775"/>
          </a:xfrm>
          <a:prstGeom prst="rect">
            <a:avLst/>
          </a:prstGeom>
          <a:noFill/>
        </p:spPr>
        <p:txBody>
          <a:bodyPr wrap="square" rtlCol="0">
            <a:spAutoFit/>
          </a:bodyPr>
          <a:lstStyle/>
          <a:p>
            <a:r>
              <a:rPr lang="en-US" altLang="zh-TW" sz="3200" dirty="0"/>
              <a:t>(1)</a:t>
            </a:r>
            <a:r>
              <a:rPr lang="zh-TW" altLang="en-US" sz="3200" dirty="0"/>
              <a:t>檢測共線性</a:t>
            </a:r>
            <a:r>
              <a:rPr lang="en-US" altLang="zh-TW" sz="3200" dirty="0"/>
              <a:t>:</a:t>
            </a:r>
            <a:endParaRPr lang="zh-TW" altLang="en-US" sz="3200" dirty="0"/>
          </a:p>
        </p:txBody>
      </p:sp>
      <p:pic>
        <p:nvPicPr>
          <p:cNvPr id="5" name="圖片 4">
            <a:extLst>
              <a:ext uri="{FF2B5EF4-FFF2-40B4-BE49-F238E27FC236}">
                <a16:creationId xmlns:a16="http://schemas.microsoft.com/office/drawing/2014/main" id="{9D43A598-1E5F-48EB-8177-5AE8D16D393A}"/>
              </a:ext>
            </a:extLst>
          </p:cNvPr>
          <p:cNvPicPr>
            <a:picLocks noChangeAspect="1"/>
          </p:cNvPicPr>
          <p:nvPr/>
        </p:nvPicPr>
        <p:blipFill>
          <a:blip r:embed="rId2"/>
          <a:stretch>
            <a:fillRect/>
          </a:stretch>
        </p:blipFill>
        <p:spPr>
          <a:xfrm>
            <a:off x="1044741" y="2463544"/>
            <a:ext cx="10102517" cy="1395165"/>
          </a:xfrm>
          <a:prstGeom prst="rect">
            <a:avLst/>
          </a:prstGeom>
        </p:spPr>
      </p:pic>
      <p:sp>
        <p:nvSpPr>
          <p:cNvPr id="6" name="文字方塊 5">
            <a:extLst>
              <a:ext uri="{FF2B5EF4-FFF2-40B4-BE49-F238E27FC236}">
                <a16:creationId xmlns:a16="http://schemas.microsoft.com/office/drawing/2014/main" id="{532E0F60-DEDB-4729-A1F3-7A21255D5F80}"/>
              </a:ext>
            </a:extLst>
          </p:cNvPr>
          <p:cNvSpPr txBox="1"/>
          <p:nvPr/>
        </p:nvSpPr>
        <p:spPr>
          <a:xfrm>
            <a:off x="1310325" y="1524826"/>
            <a:ext cx="9681329" cy="461665"/>
          </a:xfrm>
          <a:prstGeom prst="rect">
            <a:avLst/>
          </a:prstGeom>
          <a:noFill/>
        </p:spPr>
        <p:txBody>
          <a:bodyPr wrap="square" rtlCol="0">
            <a:spAutoFit/>
          </a:bodyPr>
          <a:lstStyle/>
          <a:p>
            <a:r>
              <a:rPr lang="zh-TW" altLang="en-US" sz="2400" dirty="0"/>
              <a:t>從下圖可以看出</a:t>
            </a:r>
            <a:r>
              <a:rPr lang="en-US" altLang="zh-TW" sz="2400" dirty="0"/>
              <a:t>,</a:t>
            </a:r>
            <a:r>
              <a:rPr lang="zh-TW" altLang="en-US" sz="2400" dirty="0"/>
              <a:t>沒有變數的</a:t>
            </a:r>
            <a:r>
              <a:rPr lang="en-US" altLang="zh-TW" sz="2400" dirty="0"/>
              <a:t>VIF</a:t>
            </a:r>
            <a:r>
              <a:rPr lang="zh-TW" altLang="en-US" sz="2400" dirty="0"/>
              <a:t>值超過</a:t>
            </a:r>
            <a:r>
              <a:rPr lang="en-US" altLang="zh-TW" sz="2400" dirty="0"/>
              <a:t>10,</a:t>
            </a:r>
            <a:r>
              <a:rPr lang="zh-TW" altLang="en-US" sz="2400" dirty="0"/>
              <a:t>因此沒有存在共線性的問題</a:t>
            </a:r>
          </a:p>
        </p:txBody>
      </p:sp>
      <p:sp>
        <p:nvSpPr>
          <p:cNvPr id="7" name="文字方塊 6">
            <a:extLst>
              <a:ext uri="{FF2B5EF4-FFF2-40B4-BE49-F238E27FC236}">
                <a16:creationId xmlns:a16="http://schemas.microsoft.com/office/drawing/2014/main" id="{F68EC13B-B3DD-4EB9-B99F-A6132C5734A2}"/>
              </a:ext>
            </a:extLst>
          </p:cNvPr>
          <p:cNvSpPr txBox="1"/>
          <p:nvPr/>
        </p:nvSpPr>
        <p:spPr>
          <a:xfrm>
            <a:off x="1044741" y="4335762"/>
            <a:ext cx="4232635" cy="584775"/>
          </a:xfrm>
          <a:prstGeom prst="rect">
            <a:avLst/>
          </a:prstGeom>
          <a:noFill/>
        </p:spPr>
        <p:txBody>
          <a:bodyPr wrap="square" rtlCol="0">
            <a:spAutoFit/>
          </a:bodyPr>
          <a:lstStyle/>
          <a:p>
            <a:r>
              <a:rPr lang="en-US" altLang="zh-TW" sz="3200" dirty="0"/>
              <a:t>(2)</a:t>
            </a:r>
            <a:r>
              <a:rPr lang="zh-TW" altLang="en-US" sz="3200" dirty="0"/>
              <a:t>模型選擇</a:t>
            </a:r>
          </a:p>
        </p:txBody>
      </p:sp>
      <p:sp>
        <p:nvSpPr>
          <p:cNvPr id="8" name="文字方塊 7">
            <a:extLst>
              <a:ext uri="{FF2B5EF4-FFF2-40B4-BE49-F238E27FC236}">
                <a16:creationId xmlns:a16="http://schemas.microsoft.com/office/drawing/2014/main" id="{8E42E582-CC17-4115-8341-3355F1A914DE}"/>
              </a:ext>
            </a:extLst>
          </p:cNvPr>
          <p:cNvSpPr txBox="1"/>
          <p:nvPr/>
        </p:nvSpPr>
        <p:spPr>
          <a:xfrm>
            <a:off x="1522491" y="4917675"/>
            <a:ext cx="9624767" cy="830997"/>
          </a:xfrm>
          <a:prstGeom prst="rect">
            <a:avLst/>
          </a:prstGeom>
          <a:noFill/>
        </p:spPr>
        <p:txBody>
          <a:bodyPr wrap="square" rtlCol="0">
            <a:spAutoFit/>
          </a:bodyPr>
          <a:lstStyle/>
          <a:p>
            <a:r>
              <a:rPr lang="zh-TW" altLang="en-US" sz="2400" dirty="0"/>
              <a:t>因為我們打算用</a:t>
            </a:r>
            <a:r>
              <a:rPr lang="en-US" altLang="zh-TW" sz="2400" dirty="0"/>
              <a:t>model</a:t>
            </a:r>
            <a:r>
              <a:rPr lang="zh-TW" altLang="en-US" sz="2400" dirty="0"/>
              <a:t>對測試集做預測</a:t>
            </a:r>
            <a:r>
              <a:rPr lang="en-US" altLang="zh-TW" sz="2400" dirty="0"/>
              <a:t>,</a:t>
            </a:r>
            <a:r>
              <a:rPr lang="zh-TW" altLang="en-US" sz="2400" dirty="0"/>
              <a:t>因此我們通常會選擇</a:t>
            </a:r>
            <a:r>
              <a:rPr lang="en-US" altLang="zh-TW" sz="2400" dirty="0"/>
              <a:t>AIC</a:t>
            </a:r>
            <a:r>
              <a:rPr lang="zh-TW" altLang="en-US" sz="2400" dirty="0"/>
              <a:t>而非</a:t>
            </a:r>
            <a:r>
              <a:rPr lang="en-US" altLang="zh-TW" sz="2400" dirty="0"/>
              <a:t>BIC</a:t>
            </a:r>
            <a:r>
              <a:rPr lang="zh-TW" altLang="en-US" sz="2400" dirty="0"/>
              <a:t>作為選模的指標</a:t>
            </a:r>
          </a:p>
        </p:txBody>
      </p:sp>
      <p:sp>
        <p:nvSpPr>
          <p:cNvPr id="11" name="投影片編號版面配置區 6">
            <a:extLst>
              <a:ext uri="{FF2B5EF4-FFF2-40B4-BE49-F238E27FC236}">
                <a16:creationId xmlns:a16="http://schemas.microsoft.com/office/drawing/2014/main" id="{E60E8B00-868A-448D-9081-91790CDCD583}"/>
              </a:ext>
            </a:extLst>
          </p:cNvPr>
          <p:cNvSpPr>
            <a:spLocks noGrp="1"/>
          </p:cNvSpPr>
          <p:nvPr>
            <p:ph type="sldNum" sz="quarter" idx="12"/>
          </p:nvPr>
        </p:nvSpPr>
        <p:spPr>
          <a:xfrm>
            <a:off x="10514011" y="5883275"/>
            <a:ext cx="764215" cy="365125"/>
          </a:xfrm>
        </p:spPr>
        <p:txBody>
          <a:bodyPr/>
          <a:lstStyle/>
          <a:p>
            <a:r>
              <a:rPr lang="en-US" altLang="zh-TW" sz="2200" b="1" i="1" dirty="0"/>
              <a:t>15</a:t>
            </a:r>
            <a:endParaRPr lang="en-US" sz="2200" b="1" i="1" dirty="0"/>
          </a:p>
        </p:txBody>
      </p:sp>
    </p:spTree>
    <p:extLst>
      <p:ext uri="{BB962C8B-B14F-4D97-AF65-F5344CB8AC3E}">
        <p14:creationId xmlns:p14="http://schemas.microsoft.com/office/powerpoint/2010/main" val="40633469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099538B9-A616-463E-95B3-9D3632A8A1E2}"/>
              </a:ext>
            </a:extLst>
          </p:cNvPr>
          <p:cNvSpPr txBox="1"/>
          <p:nvPr/>
        </p:nvSpPr>
        <p:spPr>
          <a:xfrm>
            <a:off x="1338606" y="499621"/>
            <a:ext cx="2300140" cy="523220"/>
          </a:xfrm>
          <a:prstGeom prst="rect">
            <a:avLst/>
          </a:prstGeom>
          <a:noFill/>
        </p:spPr>
        <p:txBody>
          <a:bodyPr wrap="square" rtlCol="0">
            <a:spAutoFit/>
          </a:bodyPr>
          <a:lstStyle/>
          <a:p>
            <a:r>
              <a:rPr lang="en-US" altLang="zh-TW" sz="2800" b="1" dirty="0"/>
              <a:t>F</a:t>
            </a:r>
            <a:r>
              <a:rPr lang="zh-TW" altLang="zh-TW" sz="2800" b="1" dirty="0"/>
              <a:t>orward</a:t>
            </a:r>
            <a:r>
              <a:rPr lang="en-US" altLang="zh-TW" sz="2800" b="1" dirty="0"/>
              <a:t>:</a:t>
            </a:r>
            <a:endParaRPr lang="zh-TW" altLang="en-US" sz="2800" b="1" dirty="0"/>
          </a:p>
        </p:txBody>
      </p:sp>
      <p:pic>
        <p:nvPicPr>
          <p:cNvPr id="5" name="圖片 4">
            <a:extLst>
              <a:ext uri="{FF2B5EF4-FFF2-40B4-BE49-F238E27FC236}">
                <a16:creationId xmlns:a16="http://schemas.microsoft.com/office/drawing/2014/main" id="{E9A524F1-3E52-457E-BFA6-84C81288776E}"/>
              </a:ext>
            </a:extLst>
          </p:cNvPr>
          <p:cNvPicPr/>
          <p:nvPr/>
        </p:nvPicPr>
        <p:blipFill>
          <a:blip r:embed="rId2"/>
          <a:stretch>
            <a:fillRect/>
          </a:stretch>
        </p:blipFill>
        <p:spPr>
          <a:xfrm>
            <a:off x="2340643" y="1084396"/>
            <a:ext cx="7428321" cy="2344604"/>
          </a:xfrm>
          <a:prstGeom prst="rect">
            <a:avLst/>
          </a:prstGeom>
        </p:spPr>
      </p:pic>
      <p:sp>
        <p:nvSpPr>
          <p:cNvPr id="6" name="矩形 5">
            <a:extLst>
              <a:ext uri="{FF2B5EF4-FFF2-40B4-BE49-F238E27FC236}">
                <a16:creationId xmlns:a16="http://schemas.microsoft.com/office/drawing/2014/main" id="{399E8554-8648-45C2-B20D-149F950EC66F}"/>
              </a:ext>
            </a:extLst>
          </p:cNvPr>
          <p:cNvSpPr/>
          <p:nvPr/>
        </p:nvSpPr>
        <p:spPr>
          <a:xfrm>
            <a:off x="1338606" y="3293649"/>
            <a:ext cx="1749197" cy="556114"/>
          </a:xfrm>
          <a:prstGeom prst="rect">
            <a:avLst/>
          </a:prstGeom>
        </p:spPr>
        <p:txBody>
          <a:bodyPr wrap="none">
            <a:spAutoFit/>
          </a:bodyPr>
          <a:lstStyle/>
          <a:p>
            <a:pPr>
              <a:lnSpc>
                <a:spcPct val="115000"/>
              </a:lnSpc>
              <a:spcAft>
                <a:spcPts val="0"/>
              </a:spcAft>
            </a:pPr>
            <a:r>
              <a:rPr lang="en-US" altLang="zh-TW" sz="2800" b="1" dirty="0"/>
              <a:t>B</a:t>
            </a:r>
            <a:r>
              <a:rPr lang="zh-TW" altLang="zh-TW" sz="2800" b="1" dirty="0"/>
              <a:t>ackward</a:t>
            </a:r>
            <a:r>
              <a:rPr lang="en-US" altLang="zh-TW" sz="2800" b="1" dirty="0"/>
              <a:t>:</a:t>
            </a:r>
            <a:endParaRPr lang="zh-TW" altLang="zh-TW" sz="2800" b="1" dirty="0"/>
          </a:p>
        </p:txBody>
      </p:sp>
      <p:pic>
        <p:nvPicPr>
          <p:cNvPr id="7" name="圖片 6">
            <a:extLst>
              <a:ext uri="{FF2B5EF4-FFF2-40B4-BE49-F238E27FC236}">
                <a16:creationId xmlns:a16="http://schemas.microsoft.com/office/drawing/2014/main" id="{3E8709DF-6895-4BB7-BB2E-0629E74BF2DB}"/>
              </a:ext>
            </a:extLst>
          </p:cNvPr>
          <p:cNvPicPr/>
          <p:nvPr/>
        </p:nvPicPr>
        <p:blipFill>
          <a:blip r:embed="rId3"/>
          <a:stretch>
            <a:fillRect/>
          </a:stretch>
        </p:blipFill>
        <p:spPr>
          <a:xfrm>
            <a:off x="2381840" y="3839376"/>
            <a:ext cx="7428320" cy="2813904"/>
          </a:xfrm>
          <a:prstGeom prst="rect">
            <a:avLst/>
          </a:prstGeom>
        </p:spPr>
      </p:pic>
      <p:sp>
        <p:nvSpPr>
          <p:cNvPr id="9" name="投影片編號版面配置區 6">
            <a:extLst>
              <a:ext uri="{FF2B5EF4-FFF2-40B4-BE49-F238E27FC236}">
                <a16:creationId xmlns:a16="http://schemas.microsoft.com/office/drawing/2014/main" id="{12879558-CAD1-41A6-9D79-6C7C499241F4}"/>
              </a:ext>
            </a:extLst>
          </p:cNvPr>
          <p:cNvSpPr>
            <a:spLocks noGrp="1"/>
          </p:cNvSpPr>
          <p:nvPr>
            <p:ph type="sldNum" sz="quarter" idx="12"/>
          </p:nvPr>
        </p:nvSpPr>
        <p:spPr>
          <a:xfrm>
            <a:off x="10514011" y="5883275"/>
            <a:ext cx="764215" cy="365125"/>
          </a:xfrm>
        </p:spPr>
        <p:txBody>
          <a:bodyPr/>
          <a:lstStyle/>
          <a:p>
            <a:r>
              <a:rPr lang="en-US" altLang="zh-TW" sz="2200" b="1" i="1" dirty="0"/>
              <a:t>16</a:t>
            </a:r>
            <a:endParaRPr lang="en-US" sz="2200" b="1" i="1" dirty="0"/>
          </a:p>
        </p:txBody>
      </p:sp>
    </p:spTree>
    <p:extLst>
      <p:ext uri="{BB962C8B-B14F-4D97-AF65-F5344CB8AC3E}">
        <p14:creationId xmlns:p14="http://schemas.microsoft.com/office/powerpoint/2010/main" val="26813123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932FA74-C213-46C5-8CA6-CAFF03B382D6}"/>
              </a:ext>
            </a:extLst>
          </p:cNvPr>
          <p:cNvSpPr/>
          <p:nvPr/>
        </p:nvSpPr>
        <p:spPr>
          <a:xfrm>
            <a:off x="1199260" y="614255"/>
            <a:ext cx="1977573" cy="584775"/>
          </a:xfrm>
          <a:prstGeom prst="rect">
            <a:avLst/>
          </a:prstGeom>
        </p:spPr>
        <p:txBody>
          <a:bodyPr wrap="square">
            <a:spAutoFit/>
          </a:bodyPr>
          <a:lstStyle/>
          <a:p>
            <a:r>
              <a:rPr lang="en-US" altLang="zh-TW" sz="3200" b="1" dirty="0"/>
              <a:t>Stepwise:</a:t>
            </a:r>
            <a:endParaRPr lang="zh-TW" altLang="en-US" sz="3200" b="1" dirty="0"/>
          </a:p>
        </p:txBody>
      </p:sp>
      <p:pic>
        <p:nvPicPr>
          <p:cNvPr id="3" name="圖片 2">
            <a:extLst>
              <a:ext uri="{FF2B5EF4-FFF2-40B4-BE49-F238E27FC236}">
                <a16:creationId xmlns:a16="http://schemas.microsoft.com/office/drawing/2014/main" id="{59924CCD-1E7A-4BE8-A4C6-A0321F34AC3A}"/>
              </a:ext>
            </a:extLst>
          </p:cNvPr>
          <p:cNvPicPr/>
          <p:nvPr/>
        </p:nvPicPr>
        <p:blipFill>
          <a:blip r:embed="rId2"/>
          <a:stretch>
            <a:fillRect/>
          </a:stretch>
        </p:blipFill>
        <p:spPr>
          <a:xfrm>
            <a:off x="2554664" y="1199030"/>
            <a:ext cx="6796726" cy="2779081"/>
          </a:xfrm>
          <a:prstGeom prst="rect">
            <a:avLst/>
          </a:prstGeom>
        </p:spPr>
      </p:pic>
      <p:sp>
        <p:nvSpPr>
          <p:cNvPr id="5" name="文字方塊 4">
            <a:extLst>
              <a:ext uri="{FF2B5EF4-FFF2-40B4-BE49-F238E27FC236}">
                <a16:creationId xmlns:a16="http://schemas.microsoft.com/office/drawing/2014/main" id="{9CC7224A-0D3E-44F2-A95A-0C4D53B395F9}"/>
              </a:ext>
            </a:extLst>
          </p:cNvPr>
          <p:cNvSpPr txBox="1"/>
          <p:nvPr/>
        </p:nvSpPr>
        <p:spPr>
          <a:xfrm>
            <a:off x="1555422" y="4269572"/>
            <a:ext cx="7795968" cy="1200329"/>
          </a:xfrm>
          <a:prstGeom prst="rect">
            <a:avLst/>
          </a:prstGeom>
          <a:noFill/>
        </p:spPr>
        <p:txBody>
          <a:bodyPr wrap="square" rtlCol="0">
            <a:spAutoFit/>
          </a:bodyPr>
          <a:lstStyle/>
          <a:p>
            <a:r>
              <a:rPr lang="zh-TW" altLang="en-US" sz="2400" dirty="0"/>
              <a:t>我們會在</a:t>
            </a:r>
            <a:r>
              <a:rPr lang="en-US" altLang="zh-TW" sz="2400" dirty="0" err="1"/>
              <a:t>Forward,Backward,Stepwise</a:t>
            </a:r>
            <a:r>
              <a:rPr lang="zh-TW" altLang="en-US" sz="2400" dirty="0"/>
              <a:t>這三個方法選出來的</a:t>
            </a:r>
            <a:r>
              <a:rPr lang="en-US" altLang="zh-TW" sz="2400" dirty="0"/>
              <a:t>model</a:t>
            </a:r>
            <a:r>
              <a:rPr lang="zh-TW" altLang="en-US" sz="2400" dirty="0"/>
              <a:t>中</a:t>
            </a:r>
            <a:r>
              <a:rPr lang="en-US" altLang="zh-TW" sz="2400" dirty="0"/>
              <a:t>,</a:t>
            </a:r>
            <a:r>
              <a:rPr lang="zh-TW" altLang="en-US" sz="2400" dirty="0"/>
              <a:t>選擇</a:t>
            </a:r>
            <a:r>
              <a:rPr lang="en-US" altLang="zh-TW" sz="2400" dirty="0"/>
              <a:t>AIC</a:t>
            </a:r>
            <a:r>
              <a:rPr lang="zh-TW" altLang="en-US" sz="2400" dirty="0"/>
              <a:t>最小的那一個</a:t>
            </a:r>
            <a:r>
              <a:rPr lang="en-US" altLang="zh-TW" sz="2400" dirty="0"/>
              <a:t>,</a:t>
            </a:r>
            <a:r>
              <a:rPr lang="zh-TW" altLang="en-US" sz="2400" dirty="0"/>
              <a:t>而在這筆資料中</a:t>
            </a:r>
            <a:r>
              <a:rPr lang="en-US" altLang="zh-TW" sz="2400" dirty="0"/>
              <a:t>,</a:t>
            </a:r>
            <a:r>
              <a:rPr lang="zh-TW" altLang="en-US" sz="2400" dirty="0"/>
              <a:t>這三個方法選出來的</a:t>
            </a:r>
            <a:r>
              <a:rPr lang="en-US" altLang="zh-TW" sz="2400" dirty="0"/>
              <a:t>model</a:t>
            </a:r>
            <a:r>
              <a:rPr lang="zh-TW" altLang="en-US" sz="2400" dirty="0"/>
              <a:t>都是一致的</a:t>
            </a:r>
          </a:p>
        </p:txBody>
      </p:sp>
      <p:sp>
        <p:nvSpPr>
          <p:cNvPr id="8" name="投影片編號版面配置區 6">
            <a:extLst>
              <a:ext uri="{FF2B5EF4-FFF2-40B4-BE49-F238E27FC236}">
                <a16:creationId xmlns:a16="http://schemas.microsoft.com/office/drawing/2014/main" id="{F807E5AB-0C90-4E44-A49D-754CFBCEFA97}"/>
              </a:ext>
            </a:extLst>
          </p:cNvPr>
          <p:cNvSpPr>
            <a:spLocks noGrp="1"/>
          </p:cNvSpPr>
          <p:nvPr>
            <p:ph type="sldNum" sz="quarter" idx="12"/>
          </p:nvPr>
        </p:nvSpPr>
        <p:spPr>
          <a:xfrm>
            <a:off x="10514011" y="5883275"/>
            <a:ext cx="764215" cy="365125"/>
          </a:xfrm>
        </p:spPr>
        <p:txBody>
          <a:bodyPr/>
          <a:lstStyle/>
          <a:p>
            <a:r>
              <a:rPr lang="en-US" altLang="zh-TW" sz="2200" b="1" i="1" dirty="0"/>
              <a:t>17</a:t>
            </a:r>
            <a:endParaRPr lang="en-US" sz="2200" b="1" i="1" dirty="0"/>
          </a:p>
        </p:txBody>
      </p:sp>
    </p:spTree>
    <p:extLst>
      <p:ext uri="{BB962C8B-B14F-4D97-AF65-F5344CB8AC3E}">
        <p14:creationId xmlns:p14="http://schemas.microsoft.com/office/powerpoint/2010/main" val="17712661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09D794EA-9899-49AB-9E56-221338864029}"/>
              </a:ext>
            </a:extLst>
          </p:cNvPr>
          <p:cNvSpPr txBox="1"/>
          <p:nvPr/>
        </p:nvSpPr>
        <p:spPr>
          <a:xfrm>
            <a:off x="1385740" y="624510"/>
            <a:ext cx="3459637" cy="584775"/>
          </a:xfrm>
          <a:prstGeom prst="rect">
            <a:avLst/>
          </a:prstGeom>
          <a:noFill/>
        </p:spPr>
        <p:txBody>
          <a:bodyPr wrap="square" rtlCol="0">
            <a:spAutoFit/>
          </a:bodyPr>
          <a:lstStyle/>
          <a:p>
            <a:r>
              <a:rPr lang="en-US" altLang="zh-TW" sz="3200" dirty="0"/>
              <a:t>(3)Training model:</a:t>
            </a:r>
            <a:endParaRPr lang="zh-TW" altLang="en-US" sz="3200" dirty="0"/>
          </a:p>
        </p:txBody>
      </p:sp>
      <p:pic>
        <p:nvPicPr>
          <p:cNvPr id="3" name="圖片 2">
            <a:extLst>
              <a:ext uri="{FF2B5EF4-FFF2-40B4-BE49-F238E27FC236}">
                <a16:creationId xmlns:a16="http://schemas.microsoft.com/office/drawing/2014/main" id="{DB70E21D-F2C7-4B1B-B493-5472420DC147}"/>
              </a:ext>
            </a:extLst>
          </p:cNvPr>
          <p:cNvPicPr/>
          <p:nvPr/>
        </p:nvPicPr>
        <p:blipFill>
          <a:blip r:embed="rId2"/>
          <a:stretch>
            <a:fillRect/>
          </a:stretch>
        </p:blipFill>
        <p:spPr>
          <a:xfrm>
            <a:off x="6096000" y="1209285"/>
            <a:ext cx="5112470" cy="4569347"/>
          </a:xfrm>
          <a:prstGeom prst="rect">
            <a:avLst/>
          </a:prstGeom>
        </p:spPr>
      </p:pic>
      <p:pic>
        <p:nvPicPr>
          <p:cNvPr id="4" name="圖片 3">
            <a:extLst>
              <a:ext uri="{FF2B5EF4-FFF2-40B4-BE49-F238E27FC236}">
                <a16:creationId xmlns:a16="http://schemas.microsoft.com/office/drawing/2014/main" id="{79AF9D0C-0CE7-481C-B7E8-02FF4BB0F765}"/>
              </a:ext>
            </a:extLst>
          </p:cNvPr>
          <p:cNvPicPr/>
          <p:nvPr/>
        </p:nvPicPr>
        <p:blipFill>
          <a:blip r:embed="rId3"/>
          <a:stretch>
            <a:fillRect/>
          </a:stretch>
        </p:blipFill>
        <p:spPr>
          <a:xfrm>
            <a:off x="1385740" y="4624345"/>
            <a:ext cx="4710260" cy="1154287"/>
          </a:xfrm>
          <a:prstGeom prst="rect">
            <a:avLst/>
          </a:prstGeom>
        </p:spPr>
      </p:pic>
      <p:sp>
        <p:nvSpPr>
          <p:cNvPr id="5" name="文字方塊 4">
            <a:extLst>
              <a:ext uri="{FF2B5EF4-FFF2-40B4-BE49-F238E27FC236}">
                <a16:creationId xmlns:a16="http://schemas.microsoft.com/office/drawing/2014/main" id="{A583F722-2100-4934-AA7A-DE6F0D481F3D}"/>
              </a:ext>
            </a:extLst>
          </p:cNvPr>
          <p:cNvSpPr txBox="1"/>
          <p:nvPr/>
        </p:nvSpPr>
        <p:spPr>
          <a:xfrm>
            <a:off x="1602556" y="1264158"/>
            <a:ext cx="4374038" cy="2308324"/>
          </a:xfrm>
          <a:prstGeom prst="rect">
            <a:avLst/>
          </a:prstGeom>
          <a:noFill/>
        </p:spPr>
        <p:txBody>
          <a:bodyPr wrap="square" rtlCol="0">
            <a:spAutoFit/>
          </a:bodyPr>
          <a:lstStyle/>
          <a:p>
            <a:r>
              <a:rPr lang="en-US" altLang="zh-TW" sz="2400" dirty="0"/>
              <a:t>(1)</a:t>
            </a:r>
            <a:r>
              <a:rPr lang="zh-TW" altLang="en-US" sz="2400" dirty="0"/>
              <a:t> 選模選出最後的</a:t>
            </a:r>
            <a:r>
              <a:rPr lang="en-US" altLang="zh-TW" sz="2400" dirty="0"/>
              <a:t>model</a:t>
            </a:r>
            <a:r>
              <a:rPr lang="zh-TW" altLang="en-US" sz="2400" dirty="0"/>
              <a:t> 沒有</a:t>
            </a:r>
            <a:endParaRPr lang="en-US" altLang="zh-TW" sz="2400" dirty="0"/>
          </a:p>
          <a:p>
            <a:r>
              <a:rPr lang="zh-TW" altLang="en-US" sz="2400" dirty="0"/>
              <a:t>     刪除任何變數</a:t>
            </a:r>
            <a:endParaRPr lang="en-US" altLang="zh-TW" sz="2400" dirty="0"/>
          </a:p>
          <a:p>
            <a:endParaRPr lang="en-US" altLang="zh-TW" sz="2400" dirty="0"/>
          </a:p>
          <a:p>
            <a:r>
              <a:rPr lang="en-US" altLang="zh-TW" sz="2400" dirty="0"/>
              <a:t>(2)</a:t>
            </a:r>
            <a:r>
              <a:rPr lang="zh-TW" altLang="en-US" sz="2400" dirty="0"/>
              <a:t> 變數間沒有共線性的問題</a:t>
            </a:r>
            <a:endParaRPr lang="en-US" altLang="zh-TW" sz="2400" dirty="0"/>
          </a:p>
          <a:p>
            <a:endParaRPr lang="en-US" altLang="zh-TW" sz="2400" dirty="0"/>
          </a:p>
          <a:p>
            <a:r>
              <a:rPr lang="en-US" altLang="zh-TW" sz="2400" dirty="0"/>
              <a:t>(3)</a:t>
            </a:r>
            <a:r>
              <a:rPr lang="zh-TW" altLang="en-US" sz="2400" dirty="0"/>
              <a:t> 選模後的參數均為顯著</a:t>
            </a:r>
            <a:endParaRPr lang="en-US" altLang="zh-TW" sz="2400" dirty="0"/>
          </a:p>
        </p:txBody>
      </p:sp>
      <p:sp>
        <p:nvSpPr>
          <p:cNvPr id="9" name="投影片編號版面配置區 6">
            <a:extLst>
              <a:ext uri="{FF2B5EF4-FFF2-40B4-BE49-F238E27FC236}">
                <a16:creationId xmlns:a16="http://schemas.microsoft.com/office/drawing/2014/main" id="{603373C8-B12E-4947-A950-F032DB42FBA9}"/>
              </a:ext>
            </a:extLst>
          </p:cNvPr>
          <p:cNvSpPr>
            <a:spLocks noGrp="1"/>
          </p:cNvSpPr>
          <p:nvPr>
            <p:ph type="sldNum" sz="quarter" idx="12"/>
          </p:nvPr>
        </p:nvSpPr>
        <p:spPr>
          <a:xfrm>
            <a:off x="10514013" y="5883275"/>
            <a:ext cx="763587" cy="365125"/>
          </a:xfrm>
        </p:spPr>
        <p:txBody>
          <a:bodyPr/>
          <a:lstStyle/>
          <a:p>
            <a:r>
              <a:rPr lang="en-US" altLang="zh-TW" sz="2200" b="1" i="1" dirty="0"/>
              <a:t>18</a:t>
            </a:r>
            <a:endParaRPr lang="en-US" sz="2200" b="1" i="1" dirty="0"/>
          </a:p>
        </p:txBody>
      </p:sp>
      <p:sp>
        <p:nvSpPr>
          <p:cNvPr id="6" name="矩形 5">
            <a:extLst>
              <a:ext uri="{FF2B5EF4-FFF2-40B4-BE49-F238E27FC236}">
                <a16:creationId xmlns:a16="http://schemas.microsoft.com/office/drawing/2014/main" id="{CC6728B5-C8C4-4031-894A-A20F520A6ADC}"/>
              </a:ext>
            </a:extLst>
          </p:cNvPr>
          <p:cNvSpPr/>
          <p:nvPr/>
        </p:nvSpPr>
        <p:spPr>
          <a:xfrm>
            <a:off x="8742784" y="2733869"/>
            <a:ext cx="1632857" cy="215537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矩形 6">
            <a:extLst>
              <a:ext uri="{FF2B5EF4-FFF2-40B4-BE49-F238E27FC236}">
                <a16:creationId xmlns:a16="http://schemas.microsoft.com/office/drawing/2014/main" id="{861C52FD-70B3-4285-8ACE-66B2A2239D29}"/>
              </a:ext>
            </a:extLst>
          </p:cNvPr>
          <p:cNvSpPr/>
          <p:nvPr/>
        </p:nvSpPr>
        <p:spPr>
          <a:xfrm>
            <a:off x="6096000" y="5421086"/>
            <a:ext cx="4307633" cy="14929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1869023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D23E85B4-8152-4019-9376-BC90785892D0}"/>
              </a:ext>
            </a:extLst>
          </p:cNvPr>
          <p:cNvSpPr txBox="1"/>
          <p:nvPr/>
        </p:nvSpPr>
        <p:spPr>
          <a:xfrm>
            <a:off x="3800574" y="232164"/>
            <a:ext cx="4590854" cy="707886"/>
          </a:xfrm>
          <a:prstGeom prst="rect">
            <a:avLst/>
          </a:prstGeom>
          <a:noFill/>
        </p:spPr>
        <p:txBody>
          <a:bodyPr wrap="square" rtlCol="0">
            <a:spAutoFit/>
          </a:bodyPr>
          <a:lstStyle/>
          <a:p>
            <a:pPr algn="ctr"/>
            <a:r>
              <a:rPr lang="en-US" altLang="zh-TW" sz="4000" b="1" dirty="0"/>
              <a:t>(</a:t>
            </a:r>
            <a:r>
              <a:rPr lang="zh-TW" altLang="en-US" sz="4000" b="1" dirty="0"/>
              <a:t>八</a:t>
            </a:r>
            <a:r>
              <a:rPr lang="en-US" altLang="zh-TW" sz="4000" b="1" dirty="0"/>
              <a:t>)</a:t>
            </a:r>
            <a:r>
              <a:rPr lang="zh-TW" altLang="en-US" sz="4000" b="1" dirty="0"/>
              <a:t>預測</a:t>
            </a:r>
          </a:p>
        </p:txBody>
      </p:sp>
      <p:pic>
        <p:nvPicPr>
          <p:cNvPr id="3" name="圖片 2">
            <a:extLst>
              <a:ext uri="{FF2B5EF4-FFF2-40B4-BE49-F238E27FC236}">
                <a16:creationId xmlns:a16="http://schemas.microsoft.com/office/drawing/2014/main" id="{4B93A285-DE90-4DB6-AB5D-BEB6E8DB5FFB}"/>
              </a:ext>
            </a:extLst>
          </p:cNvPr>
          <p:cNvPicPr/>
          <p:nvPr/>
        </p:nvPicPr>
        <p:blipFill>
          <a:blip r:embed="rId2"/>
          <a:stretch>
            <a:fillRect/>
          </a:stretch>
        </p:blipFill>
        <p:spPr>
          <a:xfrm>
            <a:off x="6170457" y="940050"/>
            <a:ext cx="6021544" cy="5917950"/>
          </a:xfrm>
          <a:prstGeom prst="rect">
            <a:avLst/>
          </a:prstGeom>
        </p:spPr>
      </p:pic>
      <p:pic>
        <p:nvPicPr>
          <p:cNvPr id="4" name="圖片 3">
            <a:extLst>
              <a:ext uri="{FF2B5EF4-FFF2-40B4-BE49-F238E27FC236}">
                <a16:creationId xmlns:a16="http://schemas.microsoft.com/office/drawing/2014/main" id="{0378F426-A0F7-4918-8CFB-5FB053110EA9}"/>
              </a:ext>
            </a:extLst>
          </p:cNvPr>
          <p:cNvPicPr/>
          <p:nvPr/>
        </p:nvPicPr>
        <p:blipFill>
          <a:blip r:embed="rId3"/>
          <a:stretch>
            <a:fillRect/>
          </a:stretch>
        </p:blipFill>
        <p:spPr>
          <a:xfrm>
            <a:off x="1083124" y="2886517"/>
            <a:ext cx="4663126" cy="792480"/>
          </a:xfrm>
          <a:prstGeom prst="rect">
            <a:avLst/>
          </a:prstGeom>
        </p:spPr>
      </p:pic>
      <p:sp>
        <p:nvSpPr>
          <p:cNvPr id="5" name="矩形 4">
            <a:extLst>
              <a:ext uri="{FF2B5EF4-FFF2-40B4-BE49-F238E27FC236}">
                <a16:creationId xmlns:a16="http://schemas.microsoft.com/office/drawing/2014/main" id="{B9937D0E-35B8-43F4-BF42-D76FEA1647F7}"/>
              </a:ext>
            </a:extLst>
          </p:cNvPr>
          <p:cNvSpPr/>
          <p:nvPr/>
        </p:nvSpPr>
        <p:spPr>
          <a:xfrm>
            <a:off x="1083124" y="940050"/>
            <a:ext cx="1933543" cy="620106"/>
          </a:xfrm>
          <a:prstGeom prst="rect">
            <a:avLst/>
          </a:prstGeom>
        </p:spPr>
        <p:txBody>
          <a:bodyPr wrap="none">
            <a:spAutoFit/>
          </a:bodyPr>
          <a:lstStyle/>
          <a:p>
            <a:pPr>
              <a:lnSpc>
                <a:spcPct val="115000"/>
              </a:lnSpc>
              <a:spcAft>
                <a:spcPts val="0"/>
              </a:spcAft>
            </a:pPr>
            <a:r>
              <a:rPr lang="zh-TW" altLang="zh-TW" sz="3200" b="1" dirty="0">
                <a:ea typeface="Arial Unicode MS"/>
                <a:cs typeface="Arial Unicode MS"/>
              </a:rPr>
              <a:t>檢視結果</a:t>
            </a:r>
            <a:r>
              <a:rPr lang="en-US" altLang="zh-TW" sz="3200" b="1" dirty="0">
                <a:ea typeface="Arial Unicode MS"/>
                <a:cs typeface="Arial Unicode MS"/>
              </a:rPr>
              <a:t>:</a:t>
            </a:r>
            <a:endParaRPr lang="zh-TW" altLang="zh-TW" sz="3200" b="1" dirty="0"/>
          </a:p>
        </p:txBody>
      </p:sp>
      <p:sp>
        <p:nvSpPr>
          <p:cNvPr id="6" name="文字方塊 5">
            <a:extLst>
              <a:ext uri="{FF2B5EF4-FFF2-40B4-BE49-F238E27FC236}">
                <a16:creationId xmlns:a16="http://schemas.microsoft.com/office/drawing/2014/main" id="{05D8880D-521B-4F2F-93B6-61943B71B4FC}"/>
              </a:ext>
            </a:extLst>
          </p:cNvPr>
          <p:cNvSpPr txBox="1"/>
          <p:nvPr/>
        </p:nvSpPr>
        <p:spPr>
          <a:xfrm>
            <a:off x="1291177" y="1511239"/>
            <a:ext cx="4804823" cy="1200329"/>
          </a:xfrm>
          <a:prstGeom prst="rect">
            <a:avLst/>
          </a:prstGeom>
          <a:noFill/>
        </p:spPr>
        <p:txBody>
          <a:bodyPr wrap="square" rtlCol="0">
            <a:spAutoFit/>
          </a:bodyPr>
          <a:lstStyle/>
          <a:p>
            <a:r>
              <a:rPr lang="zh-TW" altLang="en-US" sz="2400" dirty="0"/>
              <a:t>右圖是我們對測試集做預測的結果</a:t>
            </a:r>
            <a:r>
              <a:rPr lang="en-US" altLang="zh-TW" sz="2400" dirty="0"/>
              <a:t>,</a:t>
            </a:r>
            <a:r>
              <a:rPr lang="zh-TW" altLang="en-US" sz="2400" dirty="0"/>
              <a:t>越靠近紅色的直線代表預測值跟真值越靠近</a:t>
            </a:r>
            <a:r>
              <a:rPr lang="en-US" altLang="zh-TW" sz="2400" dirty="0"/>
              <a:t>,</a:t>
            </a:r>
            <a:r>
              <a:rPr lang="zh-TW" altLang="en-US" sz="2400" dirty="0"/>
              <a:t>預測也就越準</a:t>
            </a:r>
          </a:p>
        </p:txBody>
      </p:sp>
      <p:sp>
        <p:nvSpPr>
          <p:cNvPr id="9" name="投影片編號版面配置區 8">
            <a:extLst>
              <a:ext uri="{FF2B5EF4-FFF2-40B4-BE49-F238E27FC236}">
                <a16:creationId xmlns:a16="http://schemas.microsoft.com/office/drawing/2014/main" id="{ED5BC510-0752-4BDC-A105-19F3EF6071FA}"/>
              </a:ext>
            </a:extLst>
          </p:cNvPr>
          <p:cNvSpPr>
            <a:spLocks noGrp="1"/>
          </p:cNvSpPr>
          <p:nvPr>
            <p:ph type="sldNum" sz="quarter" idx="12"/>
          </p:nvPr>
        </p:nvSpPr>
        <p:spPr/>
        <p:txBody>
          <a:bodyPr/>
          <a:lstStyle/>
          <a:p>
            <a:fld id="{6D22F896-40B5-4ADD-8801-0D06FADFA095}" type="slidenum">
              <a:rPr lang="en-US" smtClean="0"/>
              <a:t>21</a:t>
            </a:fld>
            <a:endParaRPr lang="en-US" dirty="0"/>
          </a:p>
        </p:txBody>
      </p:sp>
      <p:sp>
        <p:nvSpPr>
          <p:cNvPr id="10" name="投影片編號版面配置區 6">
            <a:extLst>
              <a:ext uri="{FF2B5EF4-FFF2-40B4-BE49-F238E27FC236}">
                <a16:creationId xmlns:a16="http://schemas.microsoft.com/office/drawing/2014/main" id="{7177CC42-D7A1-4ADE-93C3-826107D7B8F8}"/>
              </a:ext>
            </a:extLst>
          </p:cNvPr>
          <p:cNvSpPr txBox="1">
            <a:spLocks/>
          </p:cNvSpPr>
          <p:nvPr/>
        </p:nvSpPr>
        <p:spPr>
          <a:xfrm>
            <a:off x="272438" y="6248400"/>
            <a:ext cx="764215" cy="365125"/>
          </a:xfrm>
          <a:prstGeom prst="rect">
            <a:avLst/>
          </a:prstGeom>
        </p:spPr>
        <p:txBody>
          <a:bodyPr vert="horz" lIns="91440" tIns="45720" rIns="91440" bIns="45720" rtlCol="0" anchor="ctr"/>
          <a:lstStyle>
            <a:defPPr>
              <a:defRPr lang="en-US"/>
            </a:defPPr>
            <a:lvl1pPr marL="0" algn="r" defTabSz="457200" rtl="0" eaLnBrk="1" latinLnBrk="0" hangingPunct="1">
              <a:defRPr sz="10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TW" sz="2200" b="1" i="1" dirty="0"/>
              <a:t>19</a:t>
            </a:r>
            <a:endParaRPr lang="en-US" sz="2200" b="1" i="1" dirty="0"/>
          </a:p>
        </p:txBody>
      </p:sp>
    </p:spTree>
    <p:extLst>
      <p:ext uri="{BB962C8B-B14F-4D97-AF65-F5344CB8AC3E}">
        <p14:creationId xmlns:p14="http://schemas.microsoft.com/office/powerpoint/2010/main" val="742939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a:extLst>
              <a:ext uri="{FF2B5EF4-FFF2-40B4-BE49-F238E27FC236}">
                <a16:creationId xmlns:a16="http://schemas.microsoft.com/office/drawing/2014/main" id="{187194DD-F348-4B10-B5EE-0B8DDE8EA4EB}"/>
              </a:ext>
            </a:extLst>
          </p:cNvPr>
          <p:cNvPicPr/>
          <p:nvPr/>
        </p:nvPicPr>
        <p:blipFill>
          <a:blip r:embed="rId2"/>
          <a:stretch>
            <a:fillRect/>
          </a:stretch>
        </p:blipFill>
        <p:spPr>
          <a:xfrm>
            <a:off x="6096000" y="0"/>
            <a:ext cx="6096000" cy="6858000"/>
          </a:xfrm>
          <a:prstGeom prst="rect">
            <a:avLst/>
          </a:prstGeom>
        </p:spPr>
      </p:pic>
      <p:pic>
        <p:nvPicPr>
          <p:cNvPr id="3" name="圖片 2">
            <a:extLst>
              <a:ext uri="{FF2B5EF4-FFF2-40B4-BE49-F238E27FC236}">
                <a16:creationId xmlns:a16="http://schemas.microsoft.com/office/drawing/2014/main" id="{FEED0806-ACA6-4649-9E70-3F2113BE4E7E}"/>
              </a:ext>
            </a:extLst>
          </p:cNvPr>
          <p:cNvPicPr>
            <a:picLocks noChangeAspect="1"/>
          </p:cNvPicPr>
          <p:nvPr/>
        </p:nvPicPr>
        <p:blipFill>
          <a:blip r:embed="rId3"/>
          <a:stretch>
            <a:fillRect/>
          </a:stretch>
        </p:blipFill>
        <p:spPr>
          <a:xfrm>
            <a:off x="0" y="0"/>
            <a:ext cx="6096000" cy="6858000"/>
          </a:xfrm>
          <a:prstGeom prst="rect">
            <a:avLst/>
          </a:prstGeom>
        </p:spPr>
      </p:pic>
      <p:sp>
        <p:nvSpPr>
          <p:cNvPr id="7" name="投影片編號版面配置區 6">
            <a:extLst>
              <a:ext uri="{FF2B5EF4-FFF2-40B4-BE49-F238E27FC236}">
                <a16:creationId xmlns:a16="http://schemas.microsoft.com/office/drawing/2014/main" id="{F99188DB-88DD-4804-AEFD-23D5812F4B2C}"/>
              </a:ext>
            </a:extLst>
          </p:cNvPr>
          <p:cNvSpPr txBox="1">
            <a:spLocks/>
          </p:cNvSpPr>
          <p:nvPr/>
        </p:nvSpPr>
        <p:spPr>
          <a:xfrm>
            <a:off x="5713892" y="6371577"/>
            <a:ext cx="764215" cy="365125"/>
          </a:xfrm>
          <a:prstGeom prst="rect">
            <a:avLst/>
          </a:prstGeom>
        </p:spPr>
        <p:txBody>
          <a:bodyPr vert="horz" lIns="91440" tIns="45720" rIns="91440" bIns="45720" rtlCol="0" anchor="ctr"/>
          <a:lstStyle>
            <a:defPPr>
              <a:defRPr lang="en-US"/>
            </a:defPPr>
            <a:lvl1pPr marL="0" algn="r" defTabSz="457200" rtl="0" eaLnBrk="1" latinLnBrk="0" hangingPunct="1">
              <a:defRPr sz="10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TW" sz="2200" b="1" i="1" dirty="0"/>
              <a:t>20</a:t>
            </a:r>
            <a:endParaRPr lang="en-US" sz="2200" b="1" i="1" dirty="0"/>
          </a:p>
        </p:txBody>
      </p:sp>
    </p:spTree>
    <p:extLst>
      <p:ext uri="{BB962C8B-B14F-4D97-AF65-F5344CB8AC3E}">
        <p14:creationId xmlns:p14="http://schemas.microsoft.com/office/powerpoint/2010/main" val="40283003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688FBD0C-5265-4FAA-BE68-6E7DFE731B68}"/>
              </a:ext>
            </a:extLst>
          </p:cNvPr>
          <p:cNvSpPr txBox="1"/>
          <p:nvPr/>
        </p:nvSpPr>
        <p:spPr>
          <a:xfrm>
            <a:off x="3800574" y="232164"/>
            <a:ext cx="4590854" cy="707886"/>
          </a:xfrm>
          <a:prstGeom prst="rect">
            <a:avLst/>
          </a:prstGeom>
          <a:noFill/>
        </p:spPr>
        <p:txBody>
          <a:bodyPr wrap="square" rtlCol="0">
            <a:spAutoFit/>
          </a:bodyPr>
          <a:lstStyle/>
          <a:p>
            <a:pPr algn="ctr"/>
            <a:r>
              <a:rPr lang="en-US" altLang="zh-TW" sz="4000" b="1" dirty="0"/>
              <a:t>(</a:t>
            </a:r>
            <a:r>
              <a:rPr lang="zh-TW" altLang="en-US" sz="4000" b="1" dirty="0"/>
              <a:t>九</a:t>
            </a:r>
            <a:r>
              <a:rPr lang="en-US" altLang="zh-TW" sz="4000" b="1" dirty="0"/>
              <a:t>)</a:t>
            </a:r>
            <a:r>
              <a:rPr lang="zh-TW" altLang="en-US" sz="4000" b="1" dirty="0"/>
              <a:t>建議</a:t>
            </a:r>
            <a:r>
              <a:rPr lang="en-US" altLang="zh-TW" sz="4000" b="1" dirty="0"/>
              <a:t>&amp;</a:t>
            </a:r>
            <a:r>
              <a:rPr lang="zh-TW" altLang="en-US" sz="4000" b="1" dirty="0"/>
              <a:t>結論</a:t>
            </a:r>
          </a:p>
        </p:txBody>
      </p:sp>
      <p:sp>
        <p:nvSpPr>
          <p:cNvPr id="3" name="文字方塊 2">
            <a:extLst>
              <a:ext uri="{FF2B5EF4-FFF2-40B4-BE49-F238E27FC236}">
                <a16:creationId xmlns:a16="http://schemas.microsoft.com/office/drawing/2014/main" id="{9B73CEBF-26C4-49C6-8EBB-1A5ABC60E1DC}"/>
              </a:ext>
            </a:extLst>
          </p:cNvPr>
          <p:cNvSpPr txBox="1"/>
          <p:nvPr/>
        </p:nvSpPr>
        <p:spPr>
          <a:xfrm>
            <a:off x="6096000" y="940050"/>
            <a:ext cx="5806911" cy="5170646"/>
          </a:xfrm>
          <a:prstGeom prst="rect">
            <a:avLst/>
          </a:prstGeom>
          <a:noFill/>
        </p:spPr>
        <p:txBody>
          <a:bodyPr wrap="square" rtlCol="0">
            <a:spAutoFit/>
          </a:bodyPr>
          <a:lstStyle/>
          <a:p>
            <a:r>
              <a:rPr lang="zh-TW" altLang="zh-TW" sz="2400" dirty="0"/>
              <a:t>b0=16.40569 (截距項</a:t>
            </a:r>
          </a:p>
          <a:p>
            <a:r>
              <a:rPr lang="zh-TW" altLang="zh-TW" sz="2400" dirty="0"/>
              <a:t>b1=0.045097 </a:t>
            </a:r>
            <a:r>
              <a:rPr lang="en-US" altLang="zh-TW" sz="2400" dirty="0"/>
              <a:t>(</a:t>
            </a:r>
            <a:r>
              <a:rPr lang="zh-TW" altLang="en-US" sz="2400" dirty="0"/>
              <a:t>臥室數</a:t>
            </a:r>
            <a:endParaRPr lang="zh-TW" altLang="zh-TW" sz="2400" dirty="0"/>
          </a:p>
          <a:p>
            <a:r>
              <a:rPr lang="zh-TW" altLang="zh-TW" sz="2400" dirty="0"/>
              <a:t>b2=0.048979 (</a:t>
            </a:r>
            <a:r>
              <a:rPr lang="zh-TW" altLang="en-US" sz="2400" dirty="0"/>
              <a:t>客房數</a:t>
            </a:r>
            <a:endParaRPr lang="zh-TW" altLang="zh-TW" sz="2400" dirty="0"/>
          </a:p>
          <a:p>
            <a:r>
              <a:rPr lang="zh-TW" altLang="zh-TW" sz="2400" dirty="0"/>
              <a:t>b3=0.304892 (</a:t>
            </a:r>
            <a:r>
              <a:rPr lang="zh-TW" altLang="en-US" sz="2400" dirty="0"/>
              <a:t>停車位</a:t>
            </a:r>
            <a:endParaRPr lang="zh-TW" altLang="zh-TW" sz="2400" dirty="0"/>
          </a:p>
          <a:p>
            <a:r>
              <a:rPr lang="zh-TW" altLang="zh-TW" sz="2400" dirty="0"/>
              <a:t>b4=0.223576 (</a:t>
            </a:r>
            <a:r>
              <a:rPr lang="zh-TW" altLang="en-US" sz="2400" dirty="0"/>
              <a:t>有無熱水器</a:t>
            </a:r>
            <a:endParaRPr lang="zh-TW" altLang="zh-TW" sz="2400" dirty="0"/>
          </a:p>
          <a:p>
            <a:r>
              <a:rPr lang="zh-TW" altLang="zh-TW" sz="2400" dirty="0"/>
              <a:t>b5=0.185881 (</a:t>
            </a:r>
            <a:r>
              <a:rPr lang="zh-TW" altLang="en-US" sz="2400" dirty="0"/>
              <a:t>是否鄰近主要道路</a:t>
            </a:r>
            <a:endParaRPr lang="zh-TW" altLang="zh-TW" sz="2400" dirty="0"/>
          </a:p>
          <a:p>
            <a:r>
              <a:rPr lang="zh-TW" altLang="zh-TW" sz="2400" dirty="0"/>
              <a:t>b6=0.152005 (</a:t>
            </a:r>
            <a:r>
              <a:rPr lang="zh-TW" altLang="en-US" sz="2400" dirty="0"/>
              <a:t>配備全套家俱</a:t>
            </a:r>
            <a:endParaRPr lang="zh-TW" altLang="zh-TW" sz="2400" dirty="0"/>
          </a:p>
          <a:p>
            <a:r>
              <a:rPr lang="zh-TW" altLang="zh-TW" sz="2400" dirty="0"/>
              <a:t>b7=0.167221 (</a:t>
            </a:r>
            <a:r>
              <a:rPr lang="zh-TW" altLang="en-US" sz="2400" dirty="0"/>
              <a:t>配備半套家俱</a:t>
            </a:r>
            <a:endParaRPr lang="zh-TW" altLang="zh-TW" sz="2400" dirty="0"/>
          </a:p>
          <a:p>
            <a:r>
              <a:rPr lang="zh-TW" altLang="zh-TW" sz="2400" dirty="0"/>
              <a:t>b8=0.16369 (</a:t>
            </a:r>
            <a:r>
              <a:rPr lang="zh-TW" altLang="en-US" sz="2400" dirty="0"/>
              <a:t>是否有地下室</a:t>
            </a:r>
            <a:endParaRPr lang="zh-TW" altLang="zh-TW" sz="2400" dirty="0"/>
          </a:p>
          <a:p>
            <a:r>
              <a:rPr lang="zh-TW" altLang="zh-TW" sz="2400" dirty="0"/>
              <a:t>b9=0.210274 (</a:t>
            </a:r>
            <a:r>
              <a:rPr lang="zh-TW" altLang="en-US" sz="2400" dirty="0"/>
              <a:t>廁所浴室數量</a:t>
            </a:r>
            <a:endParaRPr lang="zh-TW" altLang="zh-TW" sz="2400" dirty="0"/>
          </a:p>
          <a:p>
            <a:r>
              <a:rPr lang="zh-TW" altLang="zh-TW" sz="2400" dirty="0"/>
              <a:t>b10=0.1303013 (</a:t>
            </a:r>
            <a:r>
              <a:rPr lang="zh-TW" altLang="en-US" sz="2400" dirty="0"/>
              <a:t>樓層數</a:t>
            </a:r>
            <a:endParaRPr lang="zh-TW" altLang="zh-TW" sz="2400" dirty="0"/>
          </a:p>
          <a:p>
            <a:r>
              <a:rPr lang="zh-TW" altLang="zh-TW" sz="2400" dirty="0"/>
              <a:t>b11=0.2541617 (</a:t>
            </a:r>
            <a:r>
              <a:rPr lang="zh-TW" altLang="en-US" sz="2400" dirty="0"/>
              <a:t>是否有空調</a:t>
            </a:r>
            <a:endParaRPr lang="zh-TW" altLang="zh-TW" sz="2400" dirty="0"/>
          </a:p>
          <a:p>
            <a:r>
              <a:rPr lang="zh-TW" altLang="zh-TW" sz="2400" dirty="0"/>
              <a:t>b12=0.0000774 (</a:t>
            </a:r>
            <a:r>
              <a:rPr lang="zh-TW" altLang="en-US" sz="2400" dirty="0"/>
              <a:t>區域 平方英尺</a:t>
            </a:r>
            <a:endParaRPr lang="zh-TW" altLang="zh-TW" sz="2400" dirty="0"/>
          </a:p>
          <a:p>
            <a:endParaRPr lang="zh-TW" altLang="en-US" dirty="0"/>
          </a:p>
        </p:txBody>
      </p:sp>
      <p:sp>
        <p:nvSpPr>
          <p:cNvPr id="5" name="文字方塊 4">
            <a:extLst>
              <a:ext uri="{FF2B5EF4-FFF2-40B4-BE49-F238E27FC236}">
                <a16:creationId xmlns:a16="http://schemas.microsoft.com/office/drawing/2014/main" id="{E655921C-E2AE-4135-B1A3-E71F823AECBB}"/>
              </a:ext>
            </a:extLst>
          </p:cNvPr>
          <p:cNvSpPr txBox="1"/>
          <p:nvPr/>
        </p:nvSpPr>
        <p:spPr>
          <a:xfrm>
            <a:off x="1036948" y="940050"/>
            <a:ext cx="5059052" cy="738664"/>
          </a:xfrm>
          <a:prstGeom prst="rect">
            <a:avLst/>
          </a:prstGeom>
          <a:noFill/>
        </p:spPr>
        <p:txBody>
          <a:bodyPr wrap="square" rtlCol="0">
            <a:spAutoFit/>
          </a:bodyPr>
          <a:lstStyle/>
          <a:p>
            <a:r>
              <a:rPr lang="en-US" altLang="zh-TW" sz="2400" b="1" dirty="0">
                <a:solidFill>
                  <a:srgbClr val="FF0000"/>
                </a:solidFill>
                <a:highlight>
                  <a:srgbClr val="FFFF00"/>
                </a:highlight>
              </a:rPr>
              <a:t>Y</a:t>
            </a:r>
            <a:r>
              <a:rPr lang="en-US" altLang="zh-TW" sz="2400" b="1" dirty="0">
                <a:highlight>
                  <a:srgbClr val="FFFF00"/>
                </a:highlight>
              </a:rPr>
              <a:t>=b0+b1*X1+b2*X2+…..+b12*X12</a:t>
            </a:r>
          </a:p>
          <a:p>
            <a:endParaRPr lang="zh-TW" altLang="en-US" dirty="0"/>
          </a:p>
        </p:txBody>
      </p:sp>
      <p:sp>
        <p:nvSpPr>
          <p:cNvPr id="6" name="文字方塊 5">
            <a:extLst>
              <a:ext uri="{FF2B5EF4-FFF2-40B4-BE49-F238E27FC236}">
                <a16:creationId xmlns:a16="http://schemas.microsoft.com/office/drawing/2014/main" id="{1D797F3E-D4BB-4B2E-8677-C3D318CDEDF6}"/>
              </a:ext>
            </a:extLst>
          </p:cNvPr>
          <p:cNvSpPr txBox="1"/>
          <p:nvPr/>
        </p:nvSpPr>
        <p:spPr>
          <a:xfrm>
            <a:off x="1102937" y="1576666"/>
            <a:ext cx="3374796" cy="461665"/>
          </a:xfrm>
          <a:prstGeom prst="rect">
            <a:avLst/>
          </a:prstGeom>
          <a:noFill/>
        </p:spPr>
        <p:txBody>
          <a:bodyPr wrap="square" rtlCol="0">
            <a:spAutoFit/>
          </a:bodyPr>
          <a:lstStyle/>
          <a:p>
            <a:r>
              <a:rPr lang="zh-TW" altLang="en-US" sz="2400" dirty="0"/>
              <a:t>其中</a:t>
            </a:r>
            <a:r>
              <a:rPr lang="en-US" altLang="zh-TW" sz="2400" b="1" dirty="0">
                <a:solidFill>
                  <a:srgbClr val="FF0000"/>
                </a:solidFill>
              </a:rPr>
              <a:t>Y</a:t>
            </a:r>
            <a:r>
              <a:rPr lang="en-US" altLang="zh-TW" sz="2400" dirty="0"/>
              <a:t>=[Y^(0.2)-1]/0.2</a:t>
            </a:r>
            <a:endParaRPr lang="zh-TW" altLang="en-US" sz="2400" dirty="0"/>
          </a:p>
        </p:txBody>
      </p:sp>
      <p:sp>
        <p:nvSpPr>
          <p:cNvPr id="7" name="文字方塊 6">
            <a:extLst>
              <a:ext uri="{FF2B5EF4-FFF2-40B4-BE49-F238E27FC236}">
                <a16:creationId xmlns:a16="http://schemas.microsoft.com/office/drawing/2014/main" id="{9048AC37-462E-46FC-AAF1-FDC1960D8869}"/>
              </a:ext>
            </a:extLst>
          </p:cNvPr>
          <p:cNvSpPr txBox="1"/>
          <p:nvPr/>
        </p:nvSpPr>
        <p:spPr>
          <a:xfrm>
            <a:off x="1102937" y="2342413"/>
            <a:ext cx="4927075" cy="1200329"/>
          </a:xfrm>
          <a:prstGeom prst="rect">
            <a:avLst/>
          </a:prstGeom>
          <a:noFill/>
        </p:spPr>
        <p:txBody>
          <a:bodyPr wrap="square" rtlCol="0">
            <a:spAutoFit/>
          </a:bodyPr>
          <a:lstStyle/>
          <a:p>
            <a:r>
              <a:rPr lang="zh-TW" altLang="en-US" sz="2400" dirty="0"/>
              <a:t>故我們用轉換完之後的模型預測出來的值必須通過以下的逆轉換才會是真實的房價</a:t>
            </a:r>
          </a:p>
        </p:txBody>
      </p:sp>
      <p:sp>
        <p:nvSpPr>
          <p:cNvPr id="8" name="文字方塊 7">
            <a:extLst>
              <a:ext uri="{FF2B5EF4-FFF2-40B4-BE49-F238E27FC236}">
                <a16:creationId xmlns:a16="http://schemas.microsoft.com/office/drawing/2014/main" id="{B9A7384D-12CC-4AC7-9A7F-5CBB2854D8FF}"/>
              </a:ext>
            </a:extLst>
          </p:cNvPr>
          <p:cNvSpPr txBox="1"/>
          <p:nvPr/>
        </p:nvSpPr>
        <p:spPr>
          <a:xfrm>
            <a:off x="1102937" y="3846824"/>
            <a:ext cx="4062953" cy="584775"/>
          </a:xfrm>
          <a:prstGeom prst="rect">
            <a:avLst/>
          </a:prstGeom>
          <a:noFill/>
        </p:spPr>
        <p:txBody>
          <a:bodyPr wrap="square" rtlCol="0">
            <a:spAutoFit/>
          </a:bodyPr>
          <a:lstStyle/>
          <a:p>
            <a:r>
              <a:rPr lang="en-US" altLang="zh-TW" sz="3200" dirty="0" err="1">
                <a:highlight>
                  <a:srgbClr val="FFFF00"/>
                </a:highlight>
              </a:rPr>
              <a:t>Y_true</a:t>
            </a:r>
            <a:r>
              <a:rPr lang="en-US" altLang="zh-TW" sz="3200" dirty="0">
                <a:highlight>
                  <a:srgbClr val="FFFF00"/>
                </a:highlight>
              </a:rPr>
              <a:t>=[0.02</a:t>
            </a:r>
            <a:r>
              <a:rPr lang="zh-TW" altLang="en-US" sz="3200" dirty="0">
                <a:highlight>
                  <a:srgbClr val="FFFF00"/>
                </a:highlight>
              </a:rPr>
              <a:t>*</a:t>
            </a:r>
            <a:r>
              <a:rPr lang="en-US" altLang="zh-TW" sz="3200" b="1" dirty="0">
                <a:solidFill>
                  <a:srgbClr val="FF0000"/>
                </a:solidFill>
                <a:highlight>
                  <a:srgbClr val="FFFF00"/>
                </a:highlight>
              </a:rPr>
              <a:t>Y</a:t>
            </a:r>
            <a:r>
              <a:rPr lang="en-US" altLang="zh-TW" sz="3200" dirty="0">
                <a:highlight>
                  <a:srgbClr val="FFFF00"/>
                </a:highlight>
              </a:rPr>
              <a:t>+1]^50</a:t>
            </a:r>
            <a:endParaRPr lang="zh-TW" altLang="en-US" sz="3200" dirty="0">
              <a:highlight>
                <a:srgbClr val="FFFF00"/>
              </a:highlight>
            </a:endParaRPr>
          </a:p>
        </p:txBody>
      </p:sp>
      <p:sp>
        <p:nvSpPr>
          <p:cNvPr id="11" name="投影片編號版面配置區 6">
            <a:extLst>
              <a:ext uri="{FF2B5EF4-FFF2-40B4-BE49-F238E27FC236}">
                <a16:creationId xmlns:a16="http://schemas.microsoft.com/office/drawing/2014/main" id="{FB748071-801F-4DDC-B430-87075FF6A32C}"/>
              </a:ext>
            </a:extLst>
          </p:cNvPr>
          <p:cNvSpPr>
            <a:spLocks noGrp="1"/>
          </p:cNvSpPr>
          <p:nvPr>
            <p:ph type="sldNum" sz="quarter" idx="12"/>
          </p:nvPr>
        </p:nvSpPr>
        <p:spPr>
          <a:xfrm>
            <a:off x="10514011" y="5883275"/>
            <a:ext cx="764215" cy="365125"/>
          </a:xfrm>
        </p:spPr>
        <p:txBody>
          <a:bodyPr/>
          <a:lstStyle/>
          <a:p>
            <a:r>
              <a:rPr lang="en-US" altLang="zh-TW" sz="2200" b="1" i="1" dirty="0"/>
              <a:t>21</a:t>
            </a:r>
            <a:endParaRPr lang="en-US" sz="2200" b="1" i="1" dirty="0"/>
          </a:p>
        </p:txBody>
      </p:sp>
    </p:spTree>
    <p:extLst>
      <p:ext uri="{BB962C8B-B14F-4D97-AF65-F5344CB8AC3E}">
        <p14:creationId xmlns:p14="http://schemas.microsoft.com/office/powerpoint/2010/main" val="42926475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1">
          <a:gsLst>
            <a:gs pos="500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sp>
        <p:nvSpPr>
          <p:cNvPr id="5" name="投影片編號版面配置區 6">
            <a:extLst>
              <a:ext uri="{FF2B5EF4-FFF2-40B4-BE49-F238E27FC236}">
                <a16:creationId xmlns:a16="http://schemas.microsoft.com/office/drawing/2014/main" id="{DE25F497-6396-45E1-A0E8-F1E30635CCAC}"/>
              </a:ext>
            </a:extLst>
          </p:cNvPr>
          <p:cNvSpPr>
            <a:spLocks noGrp="1"/>
          </p:cNvSpPr>
          <p:nvPr>
            <p:ph type="sldNum" sz="quarter" idx="12"/>
          </p:nvPr>
        </p:nvSpPr>
        <p:spPr>
          <a:xfrm>
            <a:off x="10514011" y="5883275"/>
            <a:ext cx="764215" cy="365125"/>
          </a:xfrm>
        </p:spPr>
        <p:txBody>
          <a:bodyPr/>
          <a:lstStyle/>
          <a:p>
            <a:r>
              <a:rPr lang="en-US" altLang="zh-TW" sz="2200" b="1" i="1"/>
              <a:t>22</a:t>
            </a:r>
            <a:endParaRPr lang="en-US" sz="2200" b="1" i="1" dirty="0"/>
          </a:p>
        </p:txBody>
      </p:sp>
      <p:sp>
        <p:nvSpPr>
          <p:cNvPr id="6" name="文字方塊 5">
            <a:extLst>
              <a:ext uri="{FF2B5EF4-FFF2-40B4-BE49-F238E27FC236}">
                <a16:creationId xmlns:a16="http://schemas.microsoft.com/office/drawing/2014/main" id="{D81EDDF6-B6AF-456D-8C2B-7EE84282DBEB}"/>
              </a:ext>
            </a:extLst>
          </p:cNvPr>
          <p:cNvSpPr txBox="1"/>
          <p:nvPr/>
        </p:nvSpPr>
        <p:spPr>
          <a:xfrm>
            <a:off x="817984" y="1222310"/>
            <a:ext cx="6186196" cy="4555093"/>
          </a:xfrm>
          <a:prstGeom prst="rect">
            <a:avLst/>
          </a:prstGeom>
          <a:noFill/>
        </p:spPr>
        <p:txBody>
          <a:bodyPr wrap="square" rtlCol="0">
            <a:spAutoFit/>
          </a:bodyPr>
          <a:lstStyle/>
          <a:p>
            <a:r>
              <a:rPr lang="zh-TW" altLang="en-US" sz="3200" dirty="0"/>
              <a:t>符合預期</a:t>
            </a:r>
            <a:endParaRPr lang="en-US" altLang="zh-TW" sz="3200" dirty="0"/>
          </a:p>
          <a:p>
            <a:endParaRPr lang="en-US" altLang="zh-TW" dirty="0"/>
          </a:p>
          <a:p>
            <a:pPr marL="342900" indent="-342900">
              <a:buAutoNum type="arabicParenBoth"/>
            </a:pPr>
            <a:r>
              <a:rPr lang="zh-TW" altLang="en-US" sz="2400" dirty="0"/>
              <a:t>所有的參數估計均為正</a:t>
            </a:r>
            <a:endParaRPr lang="en-US" altLang="zh-TW" sz="2400" dirty="0"/>
          </a:p>
          <a:p>
            <a:pPr marL="342900" indent="-342900">
              <a:buAutoNum type="arabicParenBoth"/>
            </a:pPr>
            <a:endParaRPr lang="en-US" altLang="zh-TW" sz="2400" dirty="0"/>
          </a:p>
          <a:p>
            <a:pPr marL="342900" indent="-342900">
              <a:buAutoNum type="arabicParenBoth"/>
            </a:pPr>
            <a:r>
              <a:rPr lang="zh-TW" altLang="en-US" sz="2400" dirty="0"/>
              <a:t>廁所數對房價的影響很大</a:t>
            </a:r>
            <a:endParaRPr lang="en-US" altLang="zh-TW" sz="2400" dirty="0"/>
          </a:p>
          <a:p>
            <a:pPr marL="342900" indent="-342900">
              <a:buAutoNum type="arabicParenBoth"/>
            </a:pPr>
            <a:endParaRPr lang="en-US" altLang="zh-TW" sz="2400" dirty="0"/>
          </a:p>
          <a:p>
            <a:pPr marL="342900" indent="-342900">
              <a:buAutoNum type="arabicParenBoth"/>
            </a:pPr>
            <a:r>
              <a:rPr lang="zh-TW" altLang="en-US" sz="2400" dirty="0"/>
              <a:t>停車數對房價的影響非常大</a:t>
            </a:r>
            <a:endParaRPr lang="en-US" altLang="zh-TW" sz="2400" dirty="0"/>
          </a:p>
          <a:p>
            <a:pPr marL="342900" indent="-342900">
              <a:buAutoNum type="arabicParenBoth"/>
            </a:pPr>
            <a:endParaRPr lang="en-US" altLang="zh-TW" sz="2400" dirty="0"/>
          </a:p>
          <a:p>
            <a:pPr marL="342900" indent="-342900">
              <a:buAutoNum type="arabicParenBoth"/>
            </a:pPr>
            <a:r>
              <a:rPr lang="zh-TW" altLang="en-US" sz="2400" dirty="0"/>
              <a:t>面積的參數估計值很小</a:t>
            </a:r>
            <a:endParaRPr lang="en-US" altLang="zh-TW" sz="2400" dirty="0"/>
          </a:p>
          <a:p>
            <a:pPr marL="342900" indent="-342900">
              <a:buAutoNum type="arabicParenBoth"/>
            </a:pPr>
            <a:endParaRPr lang="en-US" altLang="zh-TW" sz="2400" dirty="0"/>
          </a:p>
          <a:p>
            <a:pPr marL="342900" indent="-342900">
              <a:buFontTx/>
              <a:buAutoNum type="arabicParenBoth"/>
            </a:pPr>
            <a:r>
              <a:rPr lang="zh-TW" altLang="en-US" sz="2400" dirty="0"/>
              <a:t>交通便利性對房價的影響之巨大</a:t>
            </a:r>
            <a:endParaRPr lang="en-US" altLang="zh-TW" sz="2400" dirty="0"/>
          </a:p>
          <a:p>
            <a:pPr marL="342900" indent="-342900">
              <a:buAutoNum type="arabicParenBoth"/>
            </a:pPr>
            <a:endParaRPr lang="en-US" altLang="zh-TW" sz="2400" dirty="0"/>
          </a:p>
        </p:txBody>
      </p:sp>
      <p:sp>
        <p:nvSpPr>
          <p:cNvPr id="7" name="文字方塊 6">
            <a:extLst>
              <a:ext uri="{FF2B5EF4-FFF2-40B4-BE49-F238E27FC236}">
                <a16:creationId xmlns:a16="http://schemas.microsoft.com/office/drawing/2014/main" id="{A7BD3124-C748-4466-89D6-C7C73433A9CB}"/>
              </a:ext>
            </a:extLst>
          </p:cNvPr>
          <p:cNvSpPr txBox="1"/>
          <p:nvPr/>
        </p:nvSpPr>
        <p:spPr>
          <a:xfrm>
            <a:off x="6913981" y="1222310"/>
            <a:ext cx="4926565" cy="3816429"/>
          </a:xfrm>
          <a:prstGeom prst="rect">
            <a:avLst/>
          </a:prstGeom>
          <a:noFill/>
        </p:spPr>
        <p:txBody>
          <a:bodyPr wrap="square" rtlCol="0">
            <a:spAutoFit/>
          </a:bodyPr>
          <a:lstStyle/>
          <a:p>
            <a:r>
              <a:rPr lang="zh-TW" altLang="en-US" sz="3200" dirty="0"/>
              <a:t>不符合預期</a:t>
            </a:r>
            <a:endParaRPr lang="en-US" altLang="zh-TW" sz="3200" dirty="0"/>
          </a:p>
          <a:p>
            <a:endParaRPr lang="en-US" altLang="zh-TW" dirty="0"/>
          </a:p>
          <a:p>
            <a:r>
              <a:rPr lang="en-US" altLang="zh-TW" sz="2400" dirty="0"/>
              <a:t>(1)</a:t>
            </a:r>
            <a:r>
              <a:rPr lang="zh-TW" altLang="en-US" sz="2400" dirty="0"/>
              <a:t>配備半套家俱比全套的更貴</a:t>
            </a:r>
            <a:endParaRPr lang="en-US" altLang="zh-TW" sz="2400" dirty="0"/>
          </a:p>
          <a:p>
            <a:endParaRPr lang="en-US" altLang="zh-TW" sz="2400" dirty="0"/>
          </a:p>
          <a:p>
            <a:r>
              <a:rPr lang="en-US" altLang="zh-TW" sz="2400" dirty="0"/>
              <a:t>(2)</a:t>
            </a:r>
            <a:r>
              <a:rPr lang="zh-TW" altLang="en-US" sz="2400" dirty="0"/>
              <a:t>臥室數量的影響很小</a:t>
            </a:r>
            <a:endParaRPr lang="en-US" altLang="zh-TW" sz="2400" dirty="0"/>
          </a:p>
          <a:p>
            <a:endParaRPr lang="en-US" altLang="zh-TW" sz="2400" dirty="0"/>
          </a:p>
          <a:p>
            <a:r>
              <a:rPr lang="en-US" altLang="zh-TW" sz="2400" dirty="0"/>
              <a:t>(3)</a:t>
            </a:r>
            <a:r>
              <a:rPr lang="zh-TW" altLang="en-US" sz="2400" dirty="0"/>
              <a:t>空調的影響力大於熱水器</a:t>
            </a:r>
            <a:endParaRPr lang="en-US" altLang="zh-TW" sz="2400" dirty="0"/>
          </a:p>
          <a:p>
            <a:endParaRPr lang="en-US" altLang="zh-TW" sz="2400" dirty="0"/>
          </a:p>
          <a:p>
            <a:r>
              <a:rPr lang="en-US" altLang="zh-TW" sz="2400" dirty="0"/>
              <a:t>(4)</a:t>
            </a:r>
            <a:r>
              <a:rPr lang="zh-TW" altLang="en-US" sz="2400" dirty="0"/>
              <a:t>完全沒有共線性</a:t>
            </a:r>
            <a:endParaRPr lang="en-US" altLang="zh-TW" sz="2400" dirty="0"/>
          </a:p>
          <a:p>
            <a:endParaRPr lang="en-US" altLang="zh-TW" sz="2400" dirty="0"/>
          </a:p>
        </p:txBody>
      </p:sp>
    </p:spTree>
    <p:extLst>
      <p:ext uri="{BB962C8B-B14F-4D97-AF65-F5344CB8AC3E}">
        <p14:creationId xmlns:p14="http://schemas.microsoft.com/office/powerpoint/2010/main" val="9059021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1">
                <a:tint val="90000"/>
                <a:lumMod val="110000"/>
              </a:schemeClr>
            </a:gs>
            <a:gs pos="100000">
              <a:schemeClr val="bg1">
                <a:shade val="64000"/>
                <a:lumMod val="88000"/>
              </a:schemeClr>
            </a:gs>
          </a:gsLst>
          <a:lin ang="5400000" scaled="0"/>
        </a:gradFill>
        <a:effectLst/>
      </p:bgPr>
    </p:bg>
    <p:spTree>
      <p:nvGrpSpPr>
        <p:cNvPr id="1" name=""/>
        <p:cNvGrpSpPr/>
        <p:nvPr/>
      </p:nvGrpSpPr>
      <p:grpSpPr>
        <a:xfrm>
          <a:off x="0" y="0"/>
          <a:ext cx="0" cy="0"/>
          <a:chOff x="0" y="0"/>
          <a:chExt cx="0" cy="0"/>
        </a:xfrm>
      </p:grpSpPr>
      <p:pic>
        <p:nvPicPr>
          <p:cNvPr id="1033" name="Picture 2">
            <a:extLst>
              <a:ext uri="{FF2B5EF4-FFF2-40B4-BE49-F238E27FC236}">
                <a16:creationId xmlns:a16="http://schemas.microsoft.com/office/drawing/2014/main" id="{22790EC5-ACA7-4536-8066-B60199F3C6D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pic>
        <p:nvPicPr>
          <p:cNvPr id="1035" name="Picture 1034">
            <a:extLst>
              <a:ext uri="{FF2B5EF4-FFF2-40B4-BE49-F238E27FC236}">
                <a16:creationId xmlns:a16="http://schemas.microsoft.com/office/drawing/2014/main" id="{5F86BEAF-FD24-4827-AD37-6785EBC9C2A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useBgFill="1">
        <p:nvSpPr>
          <p:cNvPr id="1037" name="Rectangle 1036">
            <a:extLst>
              <a:ext uri="{FF2B5EF4-FFF2-40B4-BE49-F238E27FC236}">
                <a16:creationId xmlns:a16="http://schemas.microsoft.com/office/drawing/2014/main" id="{4D4DD4CF-9732-4771-98FE-77886DC91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美国| 洛杉矶房屋最值钱纽约客房租付最多- 居外网">
            <a:extLst>
              <a:ext uri="{FF2B5EF4-FFF2-40B4-BE49-F238E27FC236}">
                <a16:creationId xmlns:a16="http://schemas.microsoft.com/office/drawing/2014/main" id="{77BCF7DC-391D-4650-A728-BEAF89456EA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385" r="15822"/>
          <a:stretch/>
        </p:blipFill>
        <p:spPr bwMode="auto">
          <a:xfrm>
            <a:off x="1" y="10"/>
            <a:ext cx="7479157" cy="6857990"/>
          </a:xfrm>
          <a:prstGeom prst="rect">
            <a:avLst/>
          </a:prstGeom>
          <a:noFill/>
          <a:extLst>
            <a:ext uri="{909E8E84-426E-40DD-AFC4-6F175D3DCCD1}">
              <a14:hiddenFill xmlns:a14="http://schemas.microsoft.com/office/drawing/2010/main">
                <a:solidFill>
                  <a:srgbClr val="FFFFFF"/>
                </a:solidFill>
              </a14:hiddenFill>
            </a:ext>
          </a:extLst>
        </p:spPr>
      </p:pic>
      <p:sp>
        <p:nvSpPr>
          <p:cNvPr id="1039" name="Rectangle 1038">
            <a:extLst>
              <a:ext uri="{FF2B5EF4-FFF2-40B4-BE49-F238E27FC236}">
                <a16:creationId xmlns:a16="http://schemas.microsoft.com/office/drawing/2014/main" id="{A2861A9C-C970-4FFE-B67C-222B6F5732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479161" y="-2"/>
            <a:ext cx="81313" cy="6858002"/>
          </a:xfrm>
          <a:prstGeom prst="rect">
            <a:avLst/>
          </a:prstGeom>
          <a:gradFill flip="none" rotWithShape="1">
            <a:gsLst>
              <a:gs pos="84000">
                <a:srgbClr val="B5B5B5"/>
              </a:gs>
              <a:gs pos="60159">
                <a:srgbClr val="D5D5D5"/>
              </a:gs>
              <a:gs pos="50447">
                <a:srgbClr val="E6E6E6"/>
              </a:gs>
              <a:gs pos="44260">
                <a:srgbClr val="D5D5D5"/>
              </a:gs>
              <a:gs pos="15928">
                <a:srgbClr val="B5B5B5"/>
              </a:gs>
              <a:gs pos="7000">
                <a:srgbClr val="8A8A8A"/>
              </a:gs>
              <a:gs pos="0">
                <a:srgbClr val="BBBBBB"/>
              </a:gs>
              <a:gs pos="93000">
                <a:srgbClr val="8A8A8A"/>
              </a:gs>
              <a:gs pos="100000">
                <a:srgbClr val="BBBBBB"/>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41" name="Picture 1040">
            <a:extLst>
              <a:ext uri="{FF2B5EF4-FFF2-40B4-BE49-F238E27FC236}">
                <a16:creationId xmlns:a16="http://schemas.microsoft.com/office/drawing/2014/main" id="{D2FDF82E-EBD8-4EC5-AD10-CD9E70EE85C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文字方塊 2">
            <a:extLst>
              <a:ext uri="{FF2B5EF4-FFF2-40B4-BE49-F238E27FC236}">
                <a16:creationId xmlns:a16="http://schemas.microsoft.com/office/drawing/2014/main" id="{34378808-8AB7-471C-AF7A-246FDC5FEFCE}"/>
              </a:ext>
            </a:extLst>
          </p:cNvPr>
          <p:cNvSpPr txBox="1"/>
          <p:nvPr/>
        </p:nvSpPr>
        <p:spPr>
          <a:xfrm>
            <a:off x="7926098" y="463550"/>
            <a:ext cx="3352128" cy="1573863"/>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zh-TW" altLang="en-US" sz="3600" cap="all" dirty="0">
                <a:latin typeface="+mj-lt"/>
                <a:ea typeface="+mj-ea"/>
                <a:cs typeface="+mj-cs"/>
              </a:rPr>
              <a:t>建議</a:t>
            </a:r>
          </a:p>
        </p:txBody>
      </p:sp>
      <p:sp>
        <p:nvSpPr>
          <p:cNvPr id="5" name="文字方塊 4">
            <a:extLst>
              <a:ext uri="{FF2B5EF4-FFF2-40B4-BE49-F238E27FC236}">
                <a16:creationId xmlns:a16="http://schemas.microsoft.com/office/drawing/2014/main" id="{DFE69A9B-4A9A-4918-9408-183F5742EF7B}"/>
              </a:ext>
            </a:extLst>
          </p:cNvPr>
          <p:cNvSpPr txBox="1"/>
          <p:nvPr/>
        </p:nvSpPr>
        <p:spPr>
          <a:xfrm>
            <a:off x="7632441" y="1828801"/>
            <a:ext cx="4180114" cy="4102360"/>
          </a:xfrm>
          <a:prstGeom prst="rect">
            <a:avLst/>
          </a:prstGeom>
        </p:spPr>
        <p:txBody>
          <a:bodyPr vert="horz" lIns="91440" tIns="45720" rIns="91440" bIns="45720" rtlCol="0">
            <a:normAutofit/>
          </a:bodyPr>
          <a:lstStyle/>
          <a:p>
            <a:pPr marL="342900" indent="-228600" defTabSz="914400">
              <a:lnSpc>
                <a:spcPct val="110000"/>
              </a:lnSpc>
              <a:spcAft>
                <a:spcPts val="600"/>
              </a:spcAft>
              <a:buClr>
                <a:schemeClr val="tx1"/>
              </a:buClr>
              <a:buFont typeface="Arial" panose="020B0604020202020204" pitchFamily="34" charset="0"/>
              <a:buChar char="•"/>
            </a:pPr>
            <a:r>
              <a:rPr lang="zh-TW" altLang="en-US" cap="all" dirty="0"/>
              <a:t>希望作者能夠為資料提供地區與單位</a:t>
            </a:r>
            <a:endParaRPr lang="en-US" altLang="zh-TW" cap="all" dirty="0"/>
          </a:p>
          <a:p>
            <a:pPr marL="342900" indent="-228600" defTabSz="914400">
              <a:lnSpc>
                <a:spcPct val="110000"/>
              </a:lnSpc>
              <a:spcAft>
                <a:spcPts val="600"/>
              </a:spcAft>
              <a:buClr>
                <a:schemeClr val="tx1"/>
              </a:buClr>
              <a:buFont typeface="Arial" panose="020B0604020202020204" pitchFamily="34" charset="0"/>
              <a:buChar char="•"/>
            </a:pPr>
            <a:endParaRPr lang="en-US" altLang="zh-TW" cap="all" dirty="0"/>
          </a:p>
          <a:p>
            <a:pPr marL="342900" indent="-228600" defTabSz="914400">
              <a:lnSpc>
                <a:spcPct val="110000"/>
              </a:lnSpc>
              <a:spcAft>
                <a:spcPts val="600"/>
              </a:spcAft>
              <a:buClr>
                <a:schemeClr val="tx1"/>
              </a:buClr>
              <a:buFont typeface="Arial" panose="020B0604020202020204" pitchFamily="34" charset="0"/>
              <a:buChar char="•"/>
            </a:pPr>
            <a:r>
              <a:rPr lang="zh-TW" altLang="en-US" cap="all" dirty="0"/>
              <a:t>我們可以去主動了解半套家俱與全套家俱的定義標準</a:t>
            </a:r>
            <a:endParaRPr lang="en-US" altLang="zh-TW" cap="all" dirty="0"/>
          </a:p>
          <a:p>
            <a:pPr marL="342900" indent="-228600" defTabSz="914400">
              <a:lnSpc>
                <a:spcPct val="110000"/>
              </a:lnSpc>
              <a:spcAft>
                <a:spcPts val="600"/>
              </a:spcAft>
              <a:buClr>
                <a:schemeClr val="tx1"/>
              </a:buClr>
              <a:buFont typeface="Arial" panose="020B0604020202020204" pitchFamily="34" charset="0"/>
              <a:buChar char="•"/>
            </a:pPr>
            <a:endParaRPr lang="en-US" altLang="zh-TW" cap="all" dirty="0"/>
          </a:p>
          <a:p>
            <a:pPr marL="342900" indent="-228600" defTabSz="914400">
              <a:lnSpc>
                <a:spcPct val="110000"/>
              </a:lnSpc>
              <a:spcAft>
                <a:spcPts val="600"/>
              </a:spcAft>
              <a:buClr>
                <a:schemeClr val="tx1"/>
              </a:buClr>
              <a:buFont typeface="Arial" panose="020B0604020202020204" pitchFamily="34" charset="0"/>
              <a:buChar char="•"/>
            </a:pPr>
            <a:r>
              <a:rPr lang="zh-TW" altLang="en-US" cap="all" dirty="0"/>
              <a:t>資料收集的欄目中若能提供房屋類型或是內裝等級會更有利於分析</a:t>
            </a:r>
            <a:endParaRPr lang="en-US" altLang="zh-TW" cap="all" dirty="0"/>
          </a:p>
          <a:p>
            <a:pPr marL="342900" indent="-228600" defTabSz="914400">
              <a:lnSpc>
                <a:spcPct val="110000"/>
              </a:lnSpc>
              <a:spcAft>
                <a:spcPts val="600"/>
              </a:spcAft>
              <a:buClr>
                <a:schemeClr val="tx1"/>
              </a:buClr>
              <a:buFont typeface="Arial" panose="020B0604020202020204" pitchFamily="34" charset="0"/>
              <a:buChar char="•"/>
            </a:pPr>
            <a:endParaRPr lang="en-US" altLang="zh-TW" cap="all" dirty="0"/>
          </a:p>
          <a:p>
            <a:pPr marL="342900" indent="-228600" defTabSz="914400">
              <a:lnSpc>
                <a:spcPct val="110000"/>
              </a:lnSpc>
              <a:spcAft>
                <a:spcPts val="600"/>
              </a:spcAft>
              <a:buClr>
                <a:schemeClr val="tx1"/>
              </a:buClr>
              <a:buFont typeface="Arial" panose="020B0604020202020204" pitchFamily="34" charset="0"/>
              <a:buChar char="•"/>
            </a:pPr>
            <a:r>
              <a:rPr lang="zh-TW" altLang="en-US" cap="all" dirty="0"/>
              <a:t>購買自用屋的人建議少買點車子</a:t>
            </a:r>
            <a:endParaRPr lang="en-US" altLang="zh-TW" cap="all" dirty="0"/>
          </a:p>
          <a:p>
            <a:pPr indent="-228600" defTabSz="914400">
              <a:lnSpc>
                <a:spcPct val="110000"/>
              </a:lnSpc>
              <a:spcAft>
                <a:spcPts val="600"/>
              </a:spcAft>
              <a:buClr>
                <a:schemeClr val="tx1"/>
              </a:buClr>
              <a:buFont typeface="Arial" panose="020B0604020202020204" pitchFamily="34" charset="0"/>
              <a:buChar char="•"/>
            </a:pPr>
            <a:endParaRPr lang="en-US" altLang="zh-TW" sz="1500" cap="all" dirty="0"/>
          </a:p>
        </p:txBody>
      </p:sp>
      <p:sp>
        <p:nvSpPr>
          <p:cNvPr id="19" name="投影片編號版面配置區 6">
            <a:extLst>
              <a:ext uri="{FF2B5EF4-FFF2-40B4-BE49-F238E27FC236}">
                <a16:creationId xmlns:a16="http://schemas.microsoft.com/office/drawing/2014/main" id="{391DBA50-144A-4D81-B914-5DA32DB26802}"/>
              </a:ext>
            </a:extLst>
          </p:cNvPr>
          <p:cNvSpPr>
            <a:spLocks noGrp="1"/>
          </p:cNvSpPr>
          <p:nvPr>
            <p:ph type="sldNum" sz="quarter" idx="12"/>
          </p:nvPr>
        </p:nvSpPr>
        <p:spPr>
          <a:xfrm>
            <a:off x="10514011" y="5883275"/>
            <a:ext cx="764215" cy="365125"/>
          </a:xfrm>
        </p:spPr>
        <p:txBody>
          <a:bodyPr/>
          <a:lstStyle/>
          <a:p>
            <a:r>
              <a:rPr lang="en-US" altLang="zh-TW" sz="2200" b="1" i="1" dirty="0"/>
              <a:t>23</a:t>
            </a:r>
            <a:endParaRPr lang="en-US" sz="2200" b="1" i="1" dirty="0"/>
          </a:p>
        </p:txBody>
      </p:sp>
    </p:spTree>
    <p:extLst>
      <p:ext uri="{BB962C8B-B14F-4D97-AF65-F5344CB8AC3E}">
        <p14:creationId xmlns:p14="http://schemas.microsoft.com/office/powerpoint/2010/main" val="9073576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AF4BFF60-9471-4E1D-A131-B87EF9779552}"/>
              </a:ext>
            </a:extLst>
          </p:cNvPr>
          <p:cNvSpPr txBox="1"/>
          <p:nvPr/>
        </p:nvSpPr>
        <p:spPr>
          <a:xfrm>
            <a:off x="1352938" y="363894"/>
            <a:ext cx="6811347" cy="553998"/>
          </a:xfrm>
          <a:prstGeom prst="rect">
            <a:avLst/>
          </a:prstGeom>
          <a:noFill/>
        </p:spPr>
        <p:txBody>
          <a:bodyPr wrap="square" rtlCol="0">
            <a:spAutoFit/>
          </a:bodyPr>
          <a:lstStyle/>
          <a:p>
            <a:r>
              <a:rPr lang="zh-TW" altLang="en-US" sz="3000" dirty="0"/>
              <a:t>參考資料</a:t>
            </a:r>
          </a:p>
        </p:txBody>
      </p:sp>
      <p:sp>
        <p:nvSpPr>
          <p:cNvPr id="3" name="文字方塊 2">
            <a:extLst>
              <a:ext uri="{FF2B5EF4-FFF2-40B4-BE49-F238E27FC236}">
                <a16:creationId xmlns:a16="http://schemas.microsoft.com/office/drawing/2014/main" id="{3DBC90DC-D7A0-4C2F-9E84-4D9C9BF9C590}"/>
              </a:ext>
            </a:extLst>
          </p:cNvPr>
          <p:cNvSpPr txBox="1"/>
          <p:nvPr/>
        </p:nvSpPr>
        <p:spPr>
          <a:xfrm>
            <a:off x="1352938" y="1069128"/>
            <a:ext cx="8005666" cy="4770537"/>
          </a:xfrm>
          <a:prstGeom prst="rect">
            <a:avLst/>
          </a:prstGeom>
          <a:noFill/>
        </p:spPr>
        <p:txBody>
          <a:bodyPr wrap="square" rtlCol="0">
            <a:spAutoFit/>
          </a:bodyPr>
          <a:lstStyle/>
          <a:p>
            <a:r>
              <a:rPr lang="zh-TW" altLang="en-US" sz="1600" dirty="0"/>
              <a:t>缺失資料在因素分析上的處理方法之研究</a:t>
            </a:r>
            <a:endParaRPr lang="en-US" altLang="zh-TW" sz="1600" dirty="0"/>
          </a:p>
          <a:p>
            <a:r>
              <a:rPr lang="en-US" altLang="zh-TW" sz="1600" dirty="0">
                <a:solidFill>
                  <a:srgbClr val="FF0000"/>
                </a:solidFill>
                <a:highlight>
                  <a:srgbClr val="FFFF00"/>
                </a:highlight>
              </a:rPr>
              <a:t>http://jntnu.ord.ntnu.edu.tw/Uploads/Papers/634690645971617572.pdf</a:t>
            </a:r>
          </a:p>
          <a:p>
            <a:r>
              <a:rPr lang="zh-TW" altLang="en-US" sz="1600" dirty="0"/>
              <a:t>房子資料</a:t>
            </a:r>
            <a:endParaRPr lang="en-US" altLang="zh-TW" sz="1600" dirty="0"/>
          </a:p>
          <a:p>
            <a:r>
              <a:rPr lang="en-US" altLang="zh-TW" sz="1600" dirty="0">
                <a:solidFill>
                  <a:srgbClr val="FF0000"/>
                </a:solidFill>
                <a:highlight>
                  <a:srgbClr val="FFFF00"/>
                </a:highlight>
              </a:rPr>
              <a:t>https://www.kaggle.com/datasets/mahikkaaa/housingregression</a:t>
            </a:r>
          </a:p>
          <a:p>
            <a:endParaRPr lang="en-US" altLang="zh-TW" sz="1600" dirty="0"/>
          </a:p>
          <a:p>
            <a:r>
              <a:rPr lang="zh-TW" altLang="en-US" sz="1600" dirty="0"/>
              <a:t>房屋參考資料</a:t>
            </a:r>
            <a:endParaRPr lang="en-US" altLang="zh-TW" sz="1600" dirty="0"/>
          </a:p>
          <a:p>
            <a:r>
              <a:rPr lang="zh-TW" altLang="en-US" sz="1600" dirty="0"/>
              <a:t>加州房價最便宜與最貴的郵編地區有哪些？</a:t>
            </a:r>
            <a:r>
              <a:rPr lang="en-US" altLang="zh-TW" sz="1600" dirty="0">
                <a:solidFill>
                  <a:srgbClr val="FF0000"/>
                </a:solidFill>
                <a:highlight>
                  <a:srgbClr val="FFFF00"/>
                </a:highlight>
              </a:rPr>
              <a:t>https://www.epochtimes.com/b5/22/6/27/n13768067.htm</a:t>
            </a:r>
          </a:p>
          <a:p>
            <a:r>
              <a:rPr lang="zh-TW" altLang="en-US" sz="1600" dirty="0"/>
              <a:t>洛杉矶房价中位数是多少？每平方英尺均价多少？</a:t>
            </a:r>
          </a:p>
          <a:p>
            <a:r>
              <a:rPr lang="en-US" altLang="zh-TW" sz="1600" dirty="0" err="1">
                <a:solidFill>
                  <a:srgbClr val="FF0000"/>
                </a:solidFill>
                <a:highlight>
                  <a:srgbClr val="FFFF00"/>
                </a:highlight>
              </a:rPr>
              <a:t>httpsMid</a:t>
            </a:r>
            <a:r>
              <a:rPr lang="en-US" altLang="zh-TW" sz="1600" dirty="0">
                <a:solidFill>
                  <a:srgbClr val="FF0000"/>
                </a:solidFill>
                <a:highlight>
                  <a:srgbClr val="FFFF00"/>
                </a:highlight>
              </a:rPr>
              <a:t>-Town Park://zhuanlan.zhihu.com/p/641053744</a:t>
            </a:r>
          </a:p>
          <a:p>
            <a:r>
              <a:rPr lang="en-US" altLang="zh-TW" sz="1600" dirty="0"/>
              <a:t> Apartments</a:t>
            </a:r>
          </a:p>
          <a:p>
            <a:r>
              <a:rPr lang="en-US" altLang="zh-TW" sz="1600" dirty="0">
                <a:solidFill>
                  <a:srgbClr val="FF0000"/>
                </a:solidFill>
                <a:highlight>
                  <a:srgbClr val="FFFF00"/>
                </a:highlight>
              </a:rPr>
              <a:t>https://www.forrent.com/mi/shelby-township/mid-town-park/q7pd8hz</a:t>
            </a:r>
          </a:p>
          <a:p>
            <a:r>
              <a:rPr lang="zh-TW" altLang="en-US" sz="1600" dirty="0"/>
              <a:t>正在查看的</a:t>
            </a:r>
            <a:r>
              <a:rPr lang="en-US" altLang="zh-TW" sz="1600" dirty="0"/>
              <a:t>12</a:t>
            </a:r>
            <a:r>
              <a:rPr lang="zh-TW" altLang="en-US" sz="1600" dirty="0"/>
              <a:t>套的房产（共</a:t>
            </a:r>
            <a:r>
              <a:rPr lang="en-US" altLang="zh-TW" sz="1600" dirty="0"/>
              <a:t>6,729 </a:t>
            </a:r>
            <a:r>
              <a:rPr lang="zh-TW" altLang="en-US" sz="1600" dirty="0"/>
              <a:t>套）已在田纳西州出售</a:t>
            </a:r>
          </a:p>
          <a:p>
            <a:r>
              <a:rPr lang="en-US" altLang="zh-TW" sz="1600" dirty="0">
                <a:solidFill>
                  <a:srgbClr val="FF0000"/>
                </a:solidFill>
                <a:highlight>
                  <a:srgbClr val="FFFF00"/>
                </a:highlight>
              </a:rPr>
              <a:t>https://www.sothebysrealty.com/zhs/sold/tn-usa/recent-sales-default-sort/3-pg</a:t>
            </a:r>
          </a:p>
          <a:p>
            <a:r>
              <a:rPr lang="zh-TW" altLang="en-US" sz="1600" dirty="0"/>
              <a:t>田纳西州：房价和每平方米价格</a:t>
            </a:r>
          </a:p>
          <a:p>
            <a:r>
              <a:rPr lang="en-US" altLang="zh-TW" sz="1600" dirty="0">
                <a:solidFill>
                  <a:srgbClr val="FF0000"/>
                </a:solidFill>
                <a:highlight>
                  <a:srgbClr val="FFFF00"/>
                </a:highlight>
              </a:rPr>
              <a:t>https://www.sodichan.com/%E7%BE%8E%E5%9B%BD/%E7%94%B0%E7%BA%B3%E8%A5%BF%E5%B7%9E/%E6%88%BF%E4%BB%B7</a:t>
            </a:r>
          </a:p>
          <a:p>
            <a:r>
              <a:rPr lang="zh-TW" altLang="en-US" sz="1600" dirty="0"/>
              <a:t>一張圖解釋美國各州房地產市場</a:t>
            </a:r>
          </a:p>
          <a:p>
            <a:r>
              <a:rPr lang="en-US" altLang="zh-TW" sz="1600" dirty="0">
                <a:solidFill>
                  <a:srgbClr val="FF0000"/>
                </a:solidFill>
                <a:highlight>
                  <a:srgbClr val="FFFF00"/>
                </a:highlight>
              </a:rPr>
              <a:t>https://nadailynews.com/4846/</a:t>
            </a:r>
          </a:p>
        </p:txBody>
      </p:sp>
    </p:spTree>
    <p:extLst>
      <p:ext uri="{BB962C8B-B14F-4D97-AF65-F5344CB8AC3E}">
        <p14:creationId xmlns:p14="http://schemas.microsoft.com/office/powerpoint/2010/main" val="12914976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字方塊 1">
            <a:extLst>
              <a:ext uri="{FF2B5EF4-FFF2-40B4-BE49-F238E27FC236}">
                <a16:creationId xmlns:a16="http://schemas.microsoft.com/office/drawing/2014/main" id="{AF4BFF60-9471-4E1D-A131-B87EF9779552}"/>
              </a:ext>
            </a:extLst>
          </p:cNvPr>
          <p:cNvSpPr txBox="1"/>
          <p:nvPr/>
        </p:nvSpPr>
        <p:spPr>
          <a:xfrm>
            <a:off x="1352938" y="363894"/>
            <a:ext cx="6811347" cy="553998"/>
          </a:xfrm>
          <a:prstGeom prst="rect">
            <a:avLst/>
          </a:prstGeom>
          <a:noFill/>
        </p:spPr>
        <p:txBody>
          <a:bodyPr wrap="square" rtlCol="0">
            <a:spAutoFit/>
          </a:bodyPr>
          <a:lstStyle/>
          <a:p>
            <a:r>
              <a:rPr lang="zh-TW" altLang="en-US" sz="3000" dirty="0"/>
              <a:t>參考資料</a:t>
            </a:r>
          </a:p>
        </p:txBody>
      </p:sp>
      <p:sp>
        <p:nvSpPr>
          <p:cNvPr id="3" name="文字方塊 2">
            <a:extLst>
              <a:ext uri="{FF2B5EF4-FFF2-40B4-BE49-F238E27FC236}">
                <a16:creationId xmlns:a16="http://schemas.microsoft.com/office/drawing/2014/main" id="{3DBC90DC-D7A0-4C2F-9E84-4D9C9BF9C590}"/>
              </a:ext>
            </a:extLst>
          </p:cNvPr>
          <p:cNvSpPr txBox="1"/>
          <p:nvPr/>
        </p:nvSpPr>
        <p:spPr>
          <a:xfrm>
            <a:off x="1352938" y="1069128"/>
            <a:ext cx="8005666" cy="5016758"/>
          </a:xfrm>
          <a:prstGeom prst="rect">
            <a:avLst/>
          </a:prstGeom>
          <a:noFill/>
        </p:spPr>
        <p:txBody>
          <a:bodyPr wrap="square" rtlCol="0">
            <a:spAutoFit/>
          </a:bodyPr>
          <a:lstStyle/>
          <a:p>
            <a:r>
              <a:rPr lang="zh-TW" altLang="en-US" sz="1600" dirty="0"/>
              <a:t>加州房價最便宜與最貴的郵編地區有哪些？</a:t>
            </a:r>
            <a:r>
              <a:rPr lang="en-US" altLang="zh-TW" sz="1600" dirty="0">
                <a:solidFill>
                  <a:srgbClr val="FF0000"/>
                </a:solidFill>
                <a:highlight>
                  <a:srgbClr val="FFFF00"/>
                </a:highlight>
              </a:rPr>
              <a:t>https://www.epochtimes.com/b5/22/9/16/n13826858.htm</a:t>
            </a:r>
          </a:p>
          <a:p>
            <a:r>
              <a:rPr lang="zh-TW" altLang="en-US" sz="1600" dirty="0"/>
              <a:t>出售 的 印第安納州</a:t>
            </a:r>
            <a:r>
              <a:rPr lang="en-US" altLang="zh-TW" sz="1600" dirty="0"/>
              <a:t>, </a:t>
            </a:r>
            <a:r>
              <a:rPr lang="zh-TW" altLang="en-US" sz="1600" dirty="0"/>
              <a:t>美國 房地產</a:t>
            </a:r>
            <a:r>
              <a:rPr lang="en-US" altLang="zh-TW" sz="1600" dirty="0"/>
              <a:t>&amp; </a:t>
            </a:r>
            <a:r>
              <a:rPr lang="zh-TW" altLang="en-US" sz="1600" dirty="0"/>
              <a:t>房屋</a:t>
            </a:r>
          </a:p>
          <a:p>
            <a:r>
              <a:rPr lang="en-US" altLang="zh-TW" sz="1600" dirty="0">
                <a:solidFill>
                  <a:srgbClr val="FF0000"/>
                </a:solidFill>
                <a:highlight>
                  <a:srgbClr val="FFFF00"/>
                </a:highlight>
              </a:rPr>
              <a:t>https://www.century21global.com/zh-Hant/l/homes-for-sale/usa,in</a:t>
            </a:r>
          </a:p>
          <a:p>
            <a:r>
              <a:rPr lang="en-US" altLang="zh-TW" sz="1600" dirty="0"/>
              <a:t>30</a:t>
            </a:r>
            <a:r>
              <a:rPr lang="zh-TW" altLang="en-US" sz="1600" dirty="0"/>
              <a:t>萬美元在美國這些州可買到多大房子</a:t>
            </a:r>
          </a:p>
          <a:p>
            <a:r>
              <a:rPr lang="en-US" altLang="zh-TW" sz="1600" dirty="0">
                <a:solidFill>
                  <a:srgbClr val="FF0000"/>
                </a:solidFill>
                <a:highlight>
                  <a:srgbClr val="FFFF00"/>
                </a:highlight>
              </a:rPr>
              <a:t>https://www.epochtimes.com/b5/18/8/10/n10628563.htm</a:t>
            </a:r>
          </a:p>
          <a:p>
            <a:r>
              <a:rPr lang="zh-TW" altLang="en-US" sz="1600" dirty="0"/>
              <a:t>華盛頓州房地產</a:t>
            </a:r>
          </a:p>
          <a:p>
            <a:r>
              <a:rPr lang="en-US" altLang="zh-TW" sz="1600" dirty="0">
                <a:solidFill>
                  <a:srgbClr val="FF0000"/>
                </a:solidFill>
                <a:highlight>
                  <a:srgbClr val="FFFF00"/>
                </a:highlight>
              </a:rPr>
              <a:t>https://www.caimeiju.com/property-types/washington-state?limitstart=0</a:t>
            </a:r>
          </a:p>
          <a:p>
            <a:r>
              <a:rPr lang="zh-TW" altLang="en-US" sz="1600" dirty="0"/>
              <a:t>舊金山及南灣房價遠高於全美平均水準</a:t>
            </a:r>
          </a:p>
          <a:p>
            <a:r>
              <a:rPr lang="en-US" altLang="zh-TW" sz="1600" dirty="0">
                <a:solidFill>
                  <a:srgbClr val="FF0000"/>
                </a:solidFill>
                <a:highlight>
                  <a:srgbClr val="FFFF00"/>
                </a:highlight>
              </a:rPr>
              <a:t>https://www.epochtimes.com/b5/22/4/18/n13714296.htm</a:t>
            </a:r>
          </a:p>
          <a:p>
            <a:r>
              <a:rPr lang="zh-TW" altLang="en-US" sz="1600" dirty="0"/>
              <a:t>看看美國不同價位都買什麼樣的房子</a:t>
            </a:r>
            <a:r>
              <a:rPr lang="en-US" altLang="zh-TW" sz="1600" dirty="0"/>
              <a:t>(</a:t>
            </a:r>
            <a:r>
              <a:rPr lang="zh-TW" altLang="en-US" sz="1600" dirty="0"/>
              <a:t>組圖</a:t>
            </a:r>
            <a:r>
              <a:rPr lang="en-US" altLang="zh-TW" sz="1600" dirty="0"/>
              <a:t>)</a:t>
            </a:r>
          </a:p>
          <a:p>
            <a:r>
              <a:rPr lang="en-US" altLang="zh-TW" sz="1600" dirty="0">
                <a:solidFill>
                  <a:srgbClr val="FF0000"/>
                </a:solidFill>
                <a:highlight>
                  <a:srgbClr val="FFFF00"/>
                </a:highlight>
              </a:rPr>
              <a:t>https://yoyovilla.pixnet.net/blog/post/25072761</a:t>
            </a:r>
          </a:p>
          <a:p>
            <a:r>
              <a:rPr lang="zh-TW" altLang="en-US" sz="1600" dirty="0"/>
              <a:t>平均坪數</a:t>
            </a:r>
            <a:r>
              <a:rPr lang="en-US" altLang="zh-TW" sz="1600" dirty="0"/>
              <a:t>72</a:t>
            </a:r>
            <a:r>
              <a:rPr lang="zh-TW" altLang="en-US" sz="1600" dirty="0"/>
              <a:t>坪　為什麼美國的房子愈蓋愈大？</a:t>
            </a:r>
          </a:p>
          <a:p>
            <a:r>
              <a:rPr lang="en-US" altLang="zh-TW" sz="1600" dirty="0">
                <a:solidFill>
                  <a:srgbClr val="FF0000"/>
                </a:solidFill>
                <a:highlight>
                  <a:srgbClr val="FFFF00"/>
                </a:highlight>
              </a:rPr>
              <a:t>https://www.cw.com.tw/index.php/article/5097997?from=search</a:t>
            </a:r>
          </a:p>
          <a:p>
            <a:r>
              <a:rPr lang="zh-TW" altLang="en-US" sz="1600" dirty="0"/>
              <a:t>傳奇公園</a:t>
            </a:r>
          </a:p>
          <a:p>
            <a:r>
              <a:rPr lang="en-US" altLang="zh-TW" sz="1600" dirty="0">
                <a:solidFill>
                  <a:srgbClr val="FF0000"/>
                </a:solidFill>
                <a:highlight>
                  <a:srgbClr val="FFFF00"/>
                </a:highlight>
              </a:rPr>
              <a:t>https://www.legends-park.com/ </a:t>
            </a:r>
          </a:p>
          <a:p>
            <a:r>
              <a:rPr lang="zh-TW" altLang="en-US" sz="1600" dirty="0"/>
              <a:t>傳奇公園西重建計畫</a:t>
            </a:r>
          </a:p>
          <a:p>
            <a:r>
              <a:rPr lang="en-US" altLang="zh-TW" sz="1600" dirty="0">
                <a:solidFill>
                  <a:srgbClr val="FF0000"/>
                </a:solidFill>
                <a:highlight>
                  <a:srgbClr val="FFFF00"/>
                </a:highlight>
              </a:rPr>
              <a:t>https://www.huduser.gov/portal/pdredge/pdr_edge_inpractice_090814.html</a:t>
            </a:r>
          </a:p>
          <a:p>
            <a:r>
              <a:rPr lang="zh-TW" altLang="en-US" sz="1600" dirty="0"/>
              <a:t>百</a:t>
            </a:r>
            <a:r>
              <a:rPr lang="en-US" altLang="zh-TW" sz="1600" dirty="0"/>
              <a:t>\</a:t>
            </a:r>
            <a:r>
              <a:rPr lang="zh-TW" altLang="en-US" sz="1600" dirty="0"/>
              <a:t>匠屋瓦工程公司</a:t>
            </a:r>
            <a:r>
              <a:rPr lang="en-US" altLang="zh-TW" sz="1600" dirty="0"/>
              <a:t>-</a:t>
            </a:r>
            <a:r>
              <a:rPr lang="zh-TW" altLang="en-US" sz="1600" dirty="0"/>
              <a:t>西班牙系列</a:t>
            </a:r>
          </a:p>
          <a:p>
            <a:r>
              <a:rPr lang="en-US" altLang="zh-TW" sz="1600" dirty="0">
                <a:solidFill>
                  <a:srgbClr val="FF0000"/>
                </a:solidFill>
                <a:highlight>
                  <a:srgbClr val="FFFF00"/>
                </a:highlight>
              </a:rPr>
              <a:t>https://www.btroof.com.tw/album_d.php?lang=tw&amp;tb=1&amp;id=11</a:t>
            </a:r>
          </a:p>
        </p:txBody>
      </p:sp>
    </p:spTree>
    <p:extLst>
      <p:ext uri="{BB962C8B-B14F-4D97-AF65-F5344CB8AC3E}">
        <p14:creationId xmlns:p14="http://schemas.microsoft.com/office/powerpoint/2010/main" val="40171380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雙波浪 4">
            <a:extLst>
              <a:ext uri="{FF2B5EF4-FFF2-40B4-BE49-F238E27FC236}">
                <a16:creationId xmlns:a16="http://schemas.microsoft.com/office/drawing/2014/main" id="{DD1FF062-54BA-4324-B154-B03C3FC188E4}"/>
              </a:ext>
            </a:extLst>
          </p:cNvPr>
          <p:cNvSpPr/>
          <p:nvPr/>
        </p:nvSpPr>
        <p:spPr>
          <a:xfrm>
            <a:off x="2388636" y="2640563"/>
            <a:ext cx="8042987" cy="931753"/>
          </a:xfrm>
          <a:prstGeom prst="doubleWav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sz="5000" dirty="0">
                <a:latin typeface="標楷體" panose="03000509000000000000" pitchFamily="65" charset="-120"/>
                <a:ea typeface="標楷體" panose="03000509000000000000" pitchFamily="65" charset="-120"/>
              </a:rPr>
              <a:t>THE END</a:t>
            </a:r>
            <a:endParaRPr lang="zh-TW" altLang="en-US" sz="5000" dirty="0">
              <a:latin typeface="標楷體" panose="03000509000000000000" pitchFamily="65" charset="-120"/>
              <a:ea typeface="標楷體" panose="03000509000000000000" pitchFamily="65" charset="-120"/>
            </a:endParaRPr>
          </a:p>
        </p:txBody>
      </p:sp>
      <p:sp>
        <p:nvSpPr>
          <p:cNvPr id="6" name="文字方塊 5">
            <a:extLst>
              <a:ext uri="{FF2B5EF4-FFF2-40B4-BE49-F238E27FC236}">
                <a16:creationId xmlns:a16="http://schemas.microsoft.com/office/drawing/2014/main" id="{87028F4E-2082-43AF-AB6C-C2570F2B76DC}"/>
              </a:ext>
            </a:extLst>
          </p:cNvPr>
          <p:cNvSpPr txBox="1"/>
          <p:nvPr/>
        </p:nvSpPr>
        <p:spPr>
          <a:xfrm>
            <a:off x="2519265" y="3539659"/>
            <a:ext cx="7007290" cy="400110"/>
          </a:xfrm>
          <a:prstGeom prst="rect">
            <a:avLst/>
          </a:prstGeom>
          <a:noFill/>
        </p:spPr>
        <p:txBody>
          <a:bodyPr wrap="square" rtlCol="0">
            <a:spAutoFit/>
          </a:bodyPr>
          <a:lstStyle/>
          <a:p>
            <a:r>
              <a:rPr lang="en-US" altLang="zh-TW" sz="2000" b="1" i="1" dirty="0">
                <a:solidFill>
                  <a:schemeClr val="tx1">
                    <a:lumMod val="95000"/>
                    <a:lumOff val="5000"/>
                  </a:schemeClr>
                </a:solidFill>
                <a:latin typeface="細明體_HKSCS" panose="02020500000000000000" pitchFamily="18" charset="-120"/>
                <a:ea typeface="細明體_HKSCS" panose="02020500000000000000" pitchFamily="18" charset="-120"/>
              </a:rPr>
              <a:t>Made by </a:t>
            </a:r>
            <a:r>
              <a:rPr lang="zh-TW" altLang="en-US" sz="2000" b="1" i="1" dirty="0">
                <a:solidFill>
                  <a:schemeClr val="tx1">
                    <a:lumMod val="95000"/>
                    <a:lumOff val="5000"/>
                  </a:schemeClr>
                </a:solidFill>
                <a:latin typeface="細明體_HKSCS" panose="02020500000000000000" pitchFamily="18" charset="-120"/>
                <a:ea typeface="細明體_HKSCS" panose="02020500000000000000" pitchFamily="18" charset="-120"/>
              </a:rPr>
              <a:t>許家豪 鄭景鴻</a:t>
            </a:r>
          </a:p>
        </p:txBody>
      </p:sp>
    </p:spTree>
    <p:extLst>
      <p:ext uri="{BB962C8B-B14F-4D97-AF65-F5344CB8AC3E}">
        <p14:creationId xmlns:p14="http://schemas.microsoft.com/office/powerpoint/2010/main" val="1206078322"/>
      </p:ext>
    </p:extLst>
  </p:cSld>
  <p:clrMapOvr>
    <a:masterClrMapping/>
  </p:clrMapOvr>
</p:sld>
</file>

<file path=ppt/theme/theme1.xml><?xml version="1.0" encoding="utf-8"?>
<a:theme xmlns:a="http://schemas.openxmlformats.org/drawingml/2006/main" name="小水滴">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TM04033925[[fn=小水滴]]</Template>
  <TotalTime>116</TotalTime>
  <Words>2051</Words>
  <Application>Microsoft Office PowerPoint</Application>
  <PresentationFormat>寬螢幕</PresentationFormat>
  <Paragraphs>252</Paragraphs>
  <Slides>28</Slides>
  <Notes>0</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28</vt:i4>
      </vt:variant>
    </vt:vector>
  </HeadingPairs>
  <TitlesOfParts>
    <vt:vector size="37" baseType="lpstr">
      <vt:lpstr>Arial Unicode MS</vt:lpstr>
      <vt:lpstr>細明體_HKSCS</vt:lpstr>
      <vt:lpstr>新細明體</vt:lpstr>
      <vt:lpstr>標楷體</vt:lpstr>
      <vt:lpstr>Arial</vt:lpstr>
      <vt:lpstr>Calibri</vt:lpstr>
      <vt:lpstr>Cambria Math</vt:lpstr>
      <vt:lpstr>Tw Cen MT</vt:lpstr>
      <vt:lpstr>小水滴</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鄭景鴻</dc:creator>
  <cp:lastModifiedBy>鄭景鴻</cp:lastModifiedBy>
  <cp:revision>8</cp:revision>
  <dcterms:created xsi:type="dcterms:W3CDTF">2023-12-24T13:56:20Z</dcterms:created>
  <dcterms:modified xsi:type="dcterms:W3CDTF">2023-12-25T15:41:12Z</dcterms:modified>
</cp:coreProperties>
</file>